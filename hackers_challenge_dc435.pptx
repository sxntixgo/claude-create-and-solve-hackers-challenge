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9" roundtripDataSignature="AMtx7mj/BYazF+Cvh7nqyJVv/c2foB0A/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customschemas.google.com/relationships/presentationmetadata" Target="metadata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9fa84ddee4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g39fa84ddee4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g39fa84ddee4_0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9fa84ddee4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g39fa84ddee4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g39fa84ddee4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9fa84ddee4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g39fa84ddee4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9fa84ddee4_0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9fa84ddee4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g39fa84ddee4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g39fa84ddee4_0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9fa84ddee4_0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39fa84ddee4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9fa84ddee4_0_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fa84ddee4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9fa84ddee4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9fa84ddee4_0_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fa84ddee4_0_2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9fa84ddee4_0_2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9fa84ddee4_0_2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fa84ddee4_0_2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9fa84ddee4_0_2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9fa84ddee4_0_2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fa84ddee4_0_2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9fa84ddee4_0_2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9fa84ddee4_0_2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fa84ddee4_0_3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9fa84ddee4_0_3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9fa84ddee4_0_3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fa84ddee4_0_3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9fa84ddee4_0_3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9fa84ddee4_0_3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9fa84ddee4_0_2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9fa84ddee4_0_2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9fa84ddee4_0_2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9fa84ddee4_0_2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9fa84ddee4_0_2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9fa84ddee4_0_2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9fa84ddee4_0_1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9fa84ddee4_0_1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9fa84ddee4_0_1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9fa84ddee4_0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39fa84ddee4_0_1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9fa84ddee4_0_1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9fa84ddee4_0_1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g39fa84ddee4_0_1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9fa84ddee4_0_1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9fa84ddee4_0_3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g39fa84ddee4_0_3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9fa84ddee4_0_3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9fa84ddee4_0_3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9fa84ddee4_0_3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9fa84ddee4_0_3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9fa84ddee4_0_3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g39fa84ddee4_0_3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9fa84ddee4_0_3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9fa84ddee4_0_2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g39fa84ddee4_0_2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39fa84ddee4_0_2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9fa84ddee4_0_3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g39fa84ddee4_0_3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39fa84ddee4_0_3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6fd8001d8e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g36fd8001d8e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36fd8001d8e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www.youtube.com/@AZisk" TargetMode="External"/><Relationship Id="rId4" Type="http://schemas.openxmlformats.org/officeDocument/2006/relationships/hyperlink" Target="https://docs.claude.com/en/docs/build-with-claude/prompt-engineering/overview" TargetMode="External"/><Relationship Id="rId5" Type="http://schemas.openxmlformats.org/officeDocument/2006/relationships/hyperlink" Target="https://www.promptingguide.ai/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youtu.be/fpfrEibkDrs?si=Eg4B57u7TpQnUOCe" TargetMode="External"/><Relationship Id="rId4" Type="http://schemas.openxmlformats.org/officeDocument/2006/relationships/hyperlink" Target="https://youtu.be/L50iyseClxk?si=ApIit5oTOft9hq2F" TargetMode="External"/><Relationship Id="rId5" Type="http://schemas.openxmlformats.org/officeDocument/2006/relationships/hyperlink" Target="https://youtu.be/gPMLxahTMA4?si=W2KeQzvxAQGPET_C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22050" y="1890750"/>
            <a:ext cx="72999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4200"/>
              <a:buFont typeface="Arial"/>
              <a:buNone/>
            </a:pPr>
            <a:r>
              <a:rPr b="1" lang="en-US" sz="4200">
                <a:solidFill>
                  <a:srgbClr val="46484B"/>
                </a:solidFill>
              </a:rPr>
              <a:t>Using </a:t>
            </a:r>
            <a:r>
              <a:rPr b="1" lang="en-US" sz="4200">
                <a:solidFill>
                  <a:srgbClr val="799ED3"/>
                </a:solidFill>
              </a:rPr>
              <a:t>Claude</a:t>
            </a:r>
            <a:r>
              <a:rPr b="1" lang="en-US" sz="4200">
                <a:solidFill>
                  <a:srgbClr val="46484B"/>
                </a:solidFill>
              </a:rPr>
              <a:t> to create and solve the </a:t>
            </a:r>
            <a:r>
              <a:rPr b="1" lang="en-US" sz="4200">
                <a:solidFill>
                  <a:srgbClr val="799ED3"/>
                </a:solidFill>
              </a:rPr>
              <a:t>Hackers Challenge</a:t>
            </a:r>
            <a:endParaRPr b="0" i="0" sz="4200" u="none" cap="none" strike="noStrike">
              <a:solidFill>
                <a:srgbClr val="799ED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922050" y="3486650"/>
            <a:ext cx="72999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4200"/>
              <a:buFont typeface="Arial"/>
              <a:buNone/>
            </a:pPr>
            <a:r>
              <a:rPr b="1" lang="en-US" sz="2100">
                <a:solidFill>
                  <a:srgbClr val="799ED3"/>
                </a:solidFill>
              </a:rPr>
              <a:t>DC435</a:t>
            </a:r>
            <a:endParaRPr b="0" i="0" sz="2100" u="none" cap="none" strike="noStrike">
              <a:solidFill>
                <a:srgbClr val="799ED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A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9fa84ddee4_0_41"/>
          <p:cNvSpPr/>
          <p:nvPr/>
        </p:nvSpPr>
        <p:spPr>
          <a:xfrm>
            <a:off x="922050" y="1890750"/>
            <a:ext cx="72999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4200"/>
              <a:buFont typeface="Arial"/>
              <a:buNone/>
            </a:pPr>
            <a:r>
              <a:rPr b="1" lang="en-US" sz="4200">
                <a:solidFill>
                  <a:srgbClr val="46484B"/>
                </a:solidFill>
              </a:rPr>
              <a:t>Yes, I used </a:t>
            </a:r>
            <a:r>
              <a:rPr b="1" lang="en-US" sz="4200">
                <a:solidFill>
                  <a:srgbClr val="799ED3"/>
                </a:solidFill>
              </a:rPr>
              <a:t>Claude</a:t>
            </a:r>
            <a:r>
              <a:rPr b="1" lang="en-US" sz="4200">
                <a:solidFill>
                  <a:srgbClr val="46484B"/>
                </a:solidFill>
              </a:rPr>
              <a:t> to create these slides</a:t>
            </a:r>
            <a:endParaRPr b="0" i="0" sz="4200" u="none" cap="none" strike="noStrike">
              <a:solidFill>
                <a:srgbClr val="799ED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A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9fa84ddee4_0_15"/>
          <p:cNvSpPr/>
          <p:nvPr/>
        </p:nvSpPr>
        <p:spPr>
          <a:xfrm>
            <a:off x="285750" y="285750"/>
            <a:ext cx="43818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46484B"/>
                </a:solidFill>
              </a:rPr>
              <a:t>About Me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g39fa84ddee4_0_15"/>
          <p:cNvSpPr/>
          <p:nvPr/>
        </p:nvSpPr>
        <p:spPr>
          <a:xfrm>
            <a:off x="285750" y="971550"/>
            <a:ext cx="36300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95"/>
              </a:lnSpc>
              <a:spcBef>
                <a:spcPts val="0"/>
              </a:spcBef>
              <a:spcAft>
                <a:spcPts val="0"/>
              </a:spcAft>
              <a:buClr>
                <a:srgbClr val="799ED3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799ED3"/>
                </a:solidFill>
              </a:rPr>
              <a:t>Santiago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g39fa84ddee4_0_15"/>
          <p:cNvSpPr/>
          <p:nvPr/>
        </p:nvSpPr>
        <p:spPr>
          <a:xfrm>
            <a:off x="285750" y="1420299"/>
            <a:ext cx="4134000" cy="31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noAutofit/>
          </a:bodyPr>
          <a:lstStyle/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●"/>
            </a:pPr>
            <a:r>
              <a:rPr lang="en-US" sz="1600">
                <a:solidFill>
                  <a:srgbClr val="808183"/>
                </a:solidFill>
              </a:rPr>
              <a:t>Staff Security Engineer @ Praetorian</a:t>
            </a:r>
            <a:endParaRPr sz="1600">
              <a:solidFill>
                <a:srgbClr val="808183"/>
              </a:solidFill>
            </a:endParaRPr>
          </a:p>
          <a:p>
            <a:pPr indent="-330200" lvl="0" marL="45720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●"/>
            </a:pPr>
            <a:r>
              <a:rPr lang="en-US" sz="1600">
                <a:solidFill>
                  <a:srgbClr val="808183"/>
                </a:solidFill>
              </a:rPr>
              <a:t>UtahSAINT member since 2019</a:t>
            </a:r>
            <a:endParaRPr sz="1600">
              <a:solidFill>
                <a:srgbClr val="808183"/>
              </a:solidFill>
            </a:endParaRPr>
          </a:p>
          <a:p>
            <a:pPr indent="-330200" lvl="0" marL="45720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●"/>
            </a:pPr>
            <a:r>
              <a:rPr lang="en-US" sz="1600">
                <a:solidFill>
                  <a:srgbClr val="808183"/>
                </a:solidFill>
              </a:rPr>
              <a:t>DC435 "member" since 2019</a:t>
            </a:r>
            <a:endParaRPr sz="1600">
              <a:solidFill>
                <a:srgbClr val="808183"/>
              </a:solidFill>
            </a:endParaRPr>
          </a:p>
          <a:p>
            <a:pPr indent="-330200" lvl="0" marL="45720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799ED3"/>
              </a:buClr>
              <a:buSzPts val="1600"/>
              <a:buChar char="●"/>
            </a:pPr>
            <a:r>
              <a:rPr lang="en-US" sz="1600">
                <a:solidFill>
                  <a:srgbClr val="799ED3"/>
                </a:solidFill>
              </a:rPr>
              <a:t>I am not a developer</a:t>
            </a:r>
            <a:endParaRPr sz="1350">
              <a:solidFill>
                <a:srgbClr val="799ED3"/>
              </a:solidFill>
            </a:endParaRPr>
          </a:p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350"/>
              <a:buFont typeface="Arial"/>
              <a:buNone/>
            </a:pPr>
            <a:r>
              <a:t/>
            </a:r>
            <a:endParaRPr sz="1350">
              <a:solidFill>
                <a:srgbClr val="808183"/>
              </a:solidFill>
            </a:endParaRPr>
          </a:p>
        </p:txBody>
      </p:sp>
      <p:sp>
        <p:nvSpPr>
          <p:cNvPr id="32" name="Google Shape;32;g39fa84ddee4_0_15"/>
          <p:cNvSpPr/>
          <p:nvPr/>
        </p:nvSpPr>
        <p:spPr>
          <a:xfrm>
            <a:off x="4732700" y="1420300"/>
            <a:ext cx="4134000" cy="3167400"/>
          </a:xfrm>
          <a:prstGeom prst="roundRect">
            <a:avLst>
              <a:gd fmla="val 4790" name="adj"/>
            </a:avLst>
          </a:prstGeom>
          <a:solidFill>
            <a:srgbClr val="799ED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F0F2F3"/>
              </a:buClr>
              <a:buSzPts val="1600"/>
              <a:buChar char="●"/>
            </a:pPr>
            <a:r>
              <a:rPr lang="en-US" sz="1600">
                <a:solidFill>
                  <a:srgbClr val="F0F2F3"/>
                </a:solidFill>
              </a:rPr>
              <a:t>Hackers Challenge Player in 2019 (6th), 2020 (2nd), and 2021 (1st)</a:t>
            </a:r>
            <a:endParaRPr sz="1600">
              <a:solidFill>
                <a:srgbClr val="F0F2F3"/>
              </a:solidFill>
            </a:endParaRPr>
          </a:p>
          <a:p>
            <a:pPr indent="-3302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F0F2F3"/>
              </a:buClr>
              <a:buSzPts val="1600"/>
              <a:buChar char="●"/>
            </a:pPr>
            <a:r>
              <a:rPr lang="en-US" sz="1600">
                <a:solidFill>
                  <a:srgbClr val="F0F2F3"/>
                </a:solidFill>
              </a:rPr>
              <a:t>Hackers Challenge </a:t>
            </a:r>
            <a:r>
              <a:rPr lang="en-US" sz="1600">
                <a:solidFill>
                  <a:srgbClr val="F0F2F3"/>
                </a:solidFill>
              </a:rPr>
              <a:t>Staff in 2022, 2023, 2024, and 2025 (lead), … ?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A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9fa84ddee4_0_31"/>
          <p:cNvSpPr/>
          <p:nvPr/>
        </p:nvSpPr>
        <p:spPr>
          <a:xfrm>
            <a:off x="285750" y="285750"/>
            <a:ext cx="43818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46484B"/>
                </a:solidFill>
              </a:rPr>
              <a:t>About the HC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g39fa84ddee4_0_31"/>
          <p:cNvSpPr/>
          <p:nvPr/>
        </p:nvSpPr>
        <p:spPr>
          <a:xfrm>
            <a:off x="285750" y="1420299"/>
            <a:ext cx="4134000" cy="31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noAutofit/>
          </a:bodyPr>
          <a:lstStyle/>
          <a:p>
            <a:pPr indent="-330200" lvl="0" marL="45720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●"/>
            </a:pPr>
            <a:r>
              <a:rPr lang="en-US" sz="1600">
                <a:solidFill>
                  <a:srgbClr val="808183"/>
                </a:solidFill>
              </a:rPr>
              <a:t>SAINTCON Premier Contest</a:t>
            </a:r>
            <a:endParaRPr sz="1600">
              <a:solidFill>
                <a:srgbClr val="808183"/>
              </a:solidFill>
            </a:endParaRPr>
          </a:p>
          <a:p>
            <a:pPr indent="-330200" lvl="0" marL="45720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●"/>
            </a:pPr>
            <a:r>
              <a:rPr lang="en-US" sz="1600">
                <a:solidFill>
                  <a:srgbClr val="808183"/>
                </a:solidFill>
              </a:rPr>
              <a:t>Jeopardy-style</a:t>
            </a:r>
            <a:endParaRPr sz="1600">
              <a:solidFill>
                <a:srgbClr val="808183"/>
              </a:solidFill>
            </a:endParaRPr>
          </a:p>
          <a:p>
            <a:pPr indent="-330200" lvl="0" marL="45720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●"/>
            </a:pPr>
            <a:r>
              <a:rPr lang="en-US" sz="1600">
                <a:solidFill>
                  <a:srgbClr val="808183"/>
                </a:solidFill>
              </a:rPr>
              <a:t>Multiple challenges:</a:t>
            </a:r>
            <a:endParaRPr sz="1600">
              <a:solidFill>
                <a:srgbClr val="808183"/>
              </a:solidFill>
            </a:endParaRPr>
          </a:p>
          <a:p>
            <a:pPr indent="-330200" lvl="1" marL="91440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○"/>
            </a:pPr>
            <a:r>
              <a:rPr lang="en-US" sz="1600">
                <a:solidFill>
                  <a:srgbClr val="808183"/>
                </a:solidFill>
              </a:rPr>
              <a:t>Computer problems</a:t>
            </a:r>
            <a:endParaRPr sz="1600">
              <a:solidFill>
                <a:srgbClr val="808183"/>
              </a:solidFill>
            </a:endParaRPr>
          </a:p>
          <a:p>
            <a:pPr indent="-330200" lvl="1" marL="91440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○"/>
            </a:pPr>
            <a:r>
              <a:rPr lang="en-US" sz="1600">
                <a:solidFill>
                  <a:srgbClr val="808183"/>
                </a:solidFill>
              </a:rPr>
              <a:t>Logic puzzles</a:t>
            </a:r>
            <a:endParaRPr sz="1600">
              <a:solidFill>
                <a:srgbClr val="808183"/>
              </a:solidFill>
            </a:endParaRPr>
          </a:p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350"/>
              <a:buFont typeface="Arial"/>
              <a:buNone/>
            </a:pPr>
            <a:r>
              <a:t/>
            </a:r>
            <a:endParaRPr sz="1350">
              <a:solidFill>
                <a:srgbClr val="808183"/>
              </a:solidFill>
            </a:endParaRPr>
          </a:p>
        </p:txBody>
      </p:sp>
      <p:sp>
        <p:nvSpPr>
          <p:cNvPr id="40" name="Google Shape;40;g39fa84ddee4_0_31"/>
          <p:cNvSpPr/>
          <p:nvPr/>
        </p:nvSpPr>
        <p:spPr>
          <a:xfrm>
            <a:off x="4732700" y="1420300"/>
            <a:ext cx="4134000" cy="3167400"/>
          </a:xfrm>
          <a:prstGeom prst="roundRect">
            <a:avLst>
              <a:gd fmla="val 4790" name="adj"/>
            </a:avLst>
          </a:prstGeom>
          <a:solidFill>
            <a:srgbClr val="799ED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0F2F3"/>
                </a:solidFill>
              </a:rPr>
              <a:t>Black Badge: free admission for ever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" name="Google Shape;41;g39fa84ddee4_0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1463" y="2085763"/>
            <a:ext cx="1836477" cy="1836477"/>
          </a:xfrm>
          <a:prstGeom prst="rect">
            <a:avLst/>
          </a:prstGeom>
          <a:solidFill>
            <a:srgbClr val="799ED3"/>
          </a:solidFill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A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9fa84ddee4_0_48"/>
          <p:cNvSpPr/>
          <p:nvPr/>
        </p:nvSpPr>
        <p:spPr>
          <a:xfrm>
            <a:off x="285750" y="285750"/>
            <a:ext cx="43818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46484B"/>
                </a:solidFill>
              </a:rPr>
              <a:t>The “Origin” Story</a:t>
            </a:r>
            <a:endParaRPr b="1" sz="3300">
              <a:solidFill>
                <a:srgbClr val="46484B"/>
              </a:solidFill>
            </a:endParaRPr>
          </a:p>
        </p:txBody>
      </p:sp>
      <p:sp>
        <p:nvSpPr>
          <p:cNvPr id="48" name="Google Shape;48;g39fa84ddee4_0_48"/>
          <p:cNvSpPr/>
          <p:nvPr/>
        </p:nvSpPr>
        <p:spPr>
          <a:xfrm>
            <a:off x="285750" y="1420299"/>
            <a:ext cx="4134000" cy="31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noAutofit/>
          </a:bodyPr>
          <a:lstStyle/>
          <a:p>
            <a:pPr indent="-330200" lvl="0" marL="45720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●"/>
            </a:pPr>
            <a:r>
              <a:rPr lang="en-US" sz="1600">
                <a:solidFill>
                  <a:srgbClr val="808183"/>
                </a:solidFill>
              </a:rPr>
              <a:t>I had planned not to help with the HC</a:t>
            </a:r>
            <a:endParaRPr sz="1600">
              <a:solidFill>
                <a:srgbClr val="808183"/>
              </a:solidFill>
            </a:endParaRPr>
          </a:p>
          <a:p>
            <a:pPr indent="-330200" lvl="0" marL="45720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●"/>
            </a:pPr>
            <a:r>
              <a:rPr lang="en-US" sz="1600">
                <a:solidFill>
                  <a:srgbClr val="808183"/>
                </a:solidFill>
              </a:rPr>
              <a:t>Zevlag (SAINTCON Contest Committee) just asked me to help, but I didn’t answer</a:t>
            </a:r>
            <a:endParaRPr sz="1600">
              <a:solidFill>
                <a:srgbClr val="808183"/>
              </a:solidFill>
            </a:endParaRPr>
          </a:p>
          <a:p>
            <a:pPr indent="-330200" lvl="0" marL="45720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●"/>
            </a:pPr>
            <a:r>
              <a:rPr lang="en-US" sz="1600">
                <a:solidFill>
                  <a:srgbClr val="808183"/>
                </a:solidFill>
              </a:rPr>
              <a:t>Help would end up being:</a:t>
            </a:r>
            <a:endParaRPr sz="1600">
              <a:solidFill>
                <a:srgbClr val="808183"/>
              </a:solidFill>
            </a:endParaRPr>
          </a:p>
          <a:p>
            <a:pPr indent="-330200" lvl="1" marL="91440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○"/>
            </a:pPr>
            <a:r>
              <a:rPr lang="en-US" sz="1600">
                <a:solidFill>
                  <a:srgbClr val="808183"/>
                </a:solidFill>
              </a:rPr>
              <a:t>Logistics</a:t>
            </a:r>
            <a:endParaRPr sz="1600">
              <a:solidFill>
                <a:srgbClr val="808183"/>
              </a:solidFill>
            </a:endParaRPr>
          </a:p>
          <a:p>
            <a:pPr indent="-330200" lvl="1" marL="91440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○"/>
            </a:pPr>
            <a:r>
              <a:rPr lang="en-US" sz="1600">
                <a:solidFill>
                  <a:srgbClr val="808183"/>
                </a:solidFill>
              </a:rPr>
              <a:t>Setup the infrastructure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○"/>
            </a:pPr>
            <a:r>
              <a:rPr lang="en-US" sz="1600">
                <a:solidFill>
                  <a:srgbClr val="808183"/>
                </a:solidFill>
              </a:rPr>
              <a:t>25+ challenges across 4 categories</a:t>
            </a:r>
            <a:endParaRPr sz="1350">
              <a:solidFill>
                <a:srgbClr val="808183"/>
              </a:solidFill>
            </a:endParaRPr>
          </a:p>
        </p:txBody>
      </p:sp>
      <p:sp>
        <p:nvSpPr>
          <p:cNvPr id="49" name="Google Shape;49;g39fa84ddee4_0_48"/>
          <p:cNvSpPr/>
          <p:nvPr/>
        </p:nvSpPr>
        <p:spPr>
          <a:xfrm>
            <a:off x="4732700" y="1420300"/>
            <a:ext cx="4134000" cy="3167400"/>
          </a:xfrm>
          <a:prstGeom prst="roundRect">
            <a:avLst>
              <a:gd fmla="val 4790" name="adj"/>
            </a:avLst>
          </a:prstGeom>
          <a:solidFill>
            <a:srgbClr val="799ED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F0F2F3"/>
              </a:buClr>
              <a:buSzPts val="1600"/>
              <a:buChar char="●"/>
            </a:pPr>
            <a:r>
              <a:rPr lang="en-US" sz="1600">
                <a:solidFill>
                  <a:srgbClr val="F0F2F3"/>
                </a:solidFill>
              </a:rPr>
              <a:t>6.5 months to build everything</a:t>
            </a:r>
            <a:endParaRPr sz="1600">
              <a:solidFill>
                <a:srgbClr val="F0F2F3"/>
              </a:solidFill>
            </a:endParaRPr>
          </a:p>
          <a:p>
            <a:pPr indent="-330200" lvl="0" marL="45720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F0F2F3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F0F2F3"/>
                </a:solidFill>
              </a:rPr>
              <a:t>Major blocker: </a:t>
            </a:r>
            <a:r>
              <a:rPr b="1" lang="en-US" sz="1600">
                <a:solidFill>
                  <a:srgbClr val="F0F2F3"/>
                </a:solidFill>
              </a:rPr>
              <a:t>coding time</a:t>
            </a:r>
            <a:endParaRPr b="1" sz="1600">
              <a:solidFill>
                <a:srgbClr val="F0F2F3"/>
              </a:solidFill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0F2F3"/>
              </a:buClr>
              <a:buSzPts val="1600"/>
              <a:buChar char="●"/>
            </a:pPr>
            <a:r>
              <a:rPr lang="en-US" sz="1600">
                <a:solidFill>
                  <a:srgbClr val="F0F2F3"/>
                </a:solidFill>
              </a:rPr>
              <a:t>Pope's Advice at BSidesSLC (I’m paraphrasing):</a:t>
            </a:r>
            <a:endParaRPr b="1" sz="1500">
              <a:solidFill>
                <a:srgbClr val="46484B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46484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g39fa84ddee4_0_48"/>
          <p:cNvSpPr/>
          <p:nvPr/>
        </p:nvSpPr>
        <p:spPr>
          <a:xfrm>
            <a:off x="4895900" y="2977825"/>
            <a:ext cx="3807600" cy="1037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000000">
                <a:alpha val="98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99ED3"/>
              </a:buClr>
              <a:buSzPts val="1200"/>
              <a:buFont typeface="Arial"/>
              <a:buNone/>
            </a:pPr>
            <a:r>
              <a:rPr i="1" lang="en-US" sz="1500">
                <a:solidFill>
                  <a:srgbClr val="799ED3"/>
                </a:solidFill>
              </a:rPr>
              <a:t>"Cursor and Claude are a game changer. You should use it for the HC.”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A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/>
          <p:nvPr/>
        </p:nvSpPr>
        <p:spPr>
          <a:xfrm>
            <a:off x="285750" y="285750"/>
            <a:ext cx="527551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46484B"/>
                </a:solidFill>
                <a:latin typeface="Arial"/>
                <a:ea typeface="Arial"/>
                <a:cs typeface="Arial"/>
                <a:sym typeface="Arial"/>
              </a:rPr>
              <a:t>The LLM Journey &amp; Costs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285750" y="1085850"/>
            <a:ext cx="850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1500"/>
              <a:buFont typeface="Arial"/>
              <a:buNone/>
            </a:pPr>
            <a:r>
              <a:rPr b="1" i="0" lang="en-US" sz="1600" u="none" cap="none" strike="noStrike">
                <a:solidFill>
                  <a:srgbClr val="46484B"/>
                </a:solidFill>
              </a:rPr>
              <a:t>Early Experiments (</a:t>
            </a:r>
            <a:r>
              <a:rPr b="1" lang="en-US" sz="1600">
                <a:solidFill>
                  <a:srgbClr val="46484B"/>
                </a:solidFill>
              </a:rPr>
              <a:t>Late</a:t>
            </a:r>
            <a:r>
              <a:rPr b="1" i="0" lang="en-US" sz="1600" u="none" cap="none" strike="noStrike">
                <a:solidFill>
                  <a:srgbClr val="46484B"/>
                </a:solidFill>
              </a:rPr>
              <a:t> 2024, Mid 2025)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285750" y="1390650"/>
            <a:ext cx="83412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noAutofit/>
          </a:bodyPr>
          <a:lstStyle/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●"/>
            </a:pPr>
            <a:r>
              <a:rPr b="1" i="0" lang="en-US" sz="1600" u="none" cap="none" strike="noStrike">
                <a:solidFill>
                  <a:srgbClr val="808183"/>
                </a:solidFill>
              </a:rPr>
              <a:t>Local LLM with Ollama:</a:t>
            </a:r>
            <a:r>
              <a:rPr i="0" lang="en-US" sz="1600" u="none" cap="none" strike="noStrike">
                <a:solidFill>
                  <a:srgbClr val="808183"/>
                </a:solidFill>
              </a:rPr>
              <a:t> Tried but wasn't successful (should keep investigating)</a:t>
            </a:r>
            <a:endParaRPr i="0" sz="1600" u="none" cap="none" strike="noStrike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●"/>
            </a:pPr>
            <a:r>
              <a:rPr b="1" i="0" lang="en-US" sz="1600" u="none" cap="none" strike="noStrike">
                <a:solidFill>
                  <a:srgbClr val="808183"/>
                </a:solidFill>
              </a:rPr>
              <a:t>Google Gemini:</a:t>
            </a:r>
            <a:r>
              <a:rPr i="0" lang="en-US" sz="1600" u="none" cap="none" strike="noStrike">
                <a:solidFill>
                  <a:srgbClr val="808183"/>
                </a:solidFill>
              </a:rPr>
              <a:t> Didn't like the results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297525" y="2228855"/>
            <a:ext cx="508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1500"/>
              <a:buFont typeface="Arial"/>
              <a:buNone/>
            </a:pPr>
            <a:r>
              <a:rPr b="1" i="0" lang="en-US" sz="1600" u="none" cap="none" strike="noStrike">
                <a:solidFill>
                  <a:srgbClr val="46484B"/>
                </a:solidFill>
              </a:rPr>
              <a:t>Discovery: Claude Free (Mid 2025)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60" name="Google Shape;60;p3"/>
          <p:cNvCxnSpPr/>
          <p:nvPr/>
        </p:nvCxnSpPr>
        <p:spPr>
          <a:xfrm>
            <a:off x="285750" y="2501475"/>
            <a:ext cx="0" cy="1500600"/>
          </a:xfrm>
          <a:prstGeom prst="straightConnector1">
            <a:avLst/>
          </a:prstGeom>
          <a:noFill/>
          <a:ln cap="flat" cmpd="sng" w="28575">
            <a:solidFill>
              <a:srgbClr val="799E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3"/>
          <p:cNvSpPr/>
          <p:nvPr/>
        </p:nvSpPr>
        <p:spPr>
          <a:xfrm>
            <a:off x="297525" y="2495089"/>
            <a:ext cx="8341200" cy="1508700"/>
          </a:xfrm>
          <a:prstGeom prst="roundRect">
            <a:avLst>
              <a:gd fmla="val 0" name="adj"/>
            </a:avLst>
          </a:prstGeom>
          <a:solidFill>
            <a:srgbClr val="F0F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549583" y="2546137"/>
            <a:ext cx="80037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808183"/>
                </a:solidFill>
              </a:rPr>
              <a:t>My prompt: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549575" y="2949605"/>
            <a:ext cx="8003700" cy="9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200"/>
              <a:buFont typeface="Arial"/>
              <a:buNone/>
            </a:pPr>
            <a:r>
              <a:rPr b="0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"I want to create a web version of the board game 'The Mind'. Players play cards 1-100 in ascending order without communication. Create Node.js backend with Socket.IO and React frontend."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285750" y="4041325"/>
            <a:ext cx="84405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050"/>
              <a:buFont typeface="Arial"/>
              <a:buNone/>
            </a:pPr>
            <a:r>
              <a:rPr b="0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✓ Loved the results! But Claude Free = no Claude Code, lots of copy/paste</a:t>
            </a:r>
            <a:r>
              <a:rPr lang="en-US" sz="1600">
                <a:solidFill>
                  <a:srgbClr val="808183"/>
                </a:solidFill>
              </a:rPr>
              <a:t>, and stingy limits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A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fa84ddee4_0_62"/>
          <p:cNvSpPr/>
          <p:nvPr/>
        </p:nvSpPr>
        <p:spPr>
          <a:xfrm>
            <a:off x="285750" y="285750"/>
            <a:ext cx="5275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46484B"/>
                </a:solidFill>
                <a:latin typeface="Arial"/>
                <a:ea typeface="Arial"/>
                <a:cs typeface="Arial"/>
                <a:sym typeface="Arial"/>
              </a:rPr>
              <a:t>The LLM Journey &amp; Costs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g39fa84ddee4_0_62"/>
          <p:cNvSpPr/>
          <p:nvPr/>
        </p:nvSpPr>
        <p:spPr>
          <a:xfrm>
            <a:off x="285760" y="1068975"/>
            <a:ext cx="338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1500"/>
              <a:buFont typeface="Arial"/>
              <a:buNone/>
            </a:pPr>
            <a:r>
              <a:rPr b="1" i="0" lang="en-US" sz="1600" u="none" cap="none" strike="noStrike">
                <a:solidFill>
                  <a:srgbClr val="46484B"/>
                </a:solidFill>
                <a:latin typeface="Arial"/>
                <a:ea typeface="Arial"/>
                <a:cs typeface="Arial"/>
                <a:sym typeface="Arial"/>
              </a:rPr>
              <a:t>The Mistake 💸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39fa84ddee4_0_62"/>
          <p:cNvSpPr/>
          <p:nvPr/>
        </p:nvSpPr>
        <p:spPr>
          <a:xfrm>
            <a:off x="285744" y="1411875"/>
            <a:ext cx="5275500" cy="876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000000">
                <a:alpha val="98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" name="Google Shape;73;g39fa84ddee4_0_62"/>
          <p:cNvCxnSpPr/>
          <p:nvPr/>
        </p:nvCxnSpPr>
        <p:spPr>
          <a:xfrm>
            <a:off x="285744" y="1426163"/>
            <a:ext cx="5275500" cy="0"/>
          </a:xfrm>
          <a:prstGeom prst="straightConnector1">
            <a:avLst/>
          </a:prstGeom>
          <a:noFill/>
          <a:ln cap="flat" cmpd="sng" w="28575">
            <a:solidFill>
              <a:srgbClr val="799E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g39fa84ddee4_0_62"/>
          <p:cNvSpPr/>
          <p:nvPr/>
        </p:nvSpPr>
        <p:spPr>
          <a:xfrm>
            <a:off x="557999" y="1611900"/>
            <a:ext cx="482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46484B"/>
                </a:solidFill>
              </a:rPr>
              <a:t>Bought full year subscription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75" name="Google Shape;75;g39fa84ddee4_0_62"/>
          <p:cNvSpPr/>
          <p:nvPr/>
        </p:nvSpPr>
        <p:spPr>
          <a:xfrm>
            <a:off x="557999" y="1916700"/>
            <a:ext cx="4825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050"/>
              <a:buFont typeface="Arial"/>
              <a:buNone/>
            </a:pPr>
            <a:r>
              <a:rPr i="0" lang="en-US" sz="1600" u="none" cap="none" strike="noStrike">
                <a:solidFill>
                  <a:srgbClr val="808183"/>
                </a:solidFill>
              </a:rPr>
              <a:t>(Should have started with monthly)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76" name="Google Shape;76;g39fa84ddee4_0_62"/>
          <p:cNvSpPr/>
          <p:nvPr/>
        </p:nvSpPr>
        <p:spPr>
          <a:xfrm>
            <a:off x="285760" y="2533300"/>
            <a:ext cx="338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1500"/>
              <a:buFont typeface="Arial"/>
              <a:buNone/>
            </a:pPr>
            <a:r>
              <a:rPr b="1" i="0" lang="en-US" sz="1600" u="none" cap="none" strike="noStrike">
                <a:solidFill>
                  <a:srgbClr val="46484B"/>
                </a:solidFill>
              </a:rPr>
              <a:t>The Reality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77" name="Google Shape;77;g39fa84ddee4_0_62"/>
          <p:cNvSpPr/>
          <p:nvPr/>
        </p:nvSpPr>
        <p:spPr>
          <a:xfrm>
            <a:off x="285753" y="2838100"/>
            <a:ext cx="83289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noAutofit/>
          </a:bodyPr>
          <a:lstStyle/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●"/>
            </a:pPr>
            <a:r>
              <a:rPr lang="en-US" sz="1600">
                <a:solidFill>
                  <a:srgbClr val="808183"/>
                </a:solidFill>
              </a:rPr>
              <a:t>Memorial Day</a:t>
            </a:r>
            <a:r>
              <a:rPr i="0" lang="en-US" sz="1600" u="none" cap="none" strike="noStrike">
                <a:solidFill>
                  <a:srgbClr val="808183"/>
                </a:solidFill>
              </a:rPr>
              <a:t> sprint: ~4 sessions</a:t>
            </a:r>
            <a:endParaRPr i="0" sz="1600" u="none" cap="none" strike="noStrike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●"/>
            </a:pPr>
            <a:r>
              <a:rPr i="0" lang="en-US" sz="1600" u="none" cap="none" strike="noStrike">
                <a:solidFill>
                  <a:srgbClr val="808183"/>
                </a:solidFill>
              </a:rPr>
              <a:t>5 hours each</a:t>
            </a:r>
            <a:endParaRPr i="0" sz="1600" u="none" cap="none" strike="noStrike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●"/>
            </a:pPr>
            <a:r>
              <a:rPr i="0" lang="en-US" sz="1600" u="none" cap="none" strike="noStrike">
                <a:solidFill>
                  <a:srgbClr val="808183"/>
                </a:solidFill>
              </a:rPr>
              <a:t>Coded SyncFlow (</a:t>
            </a:r>
            <a:r>
              <a:rPr lang="en-US" sz="1600">
                <a:solidFill>
                  <a:srgbClr val="808183"/>
                </a:solidFill>
              </a:rPr>
              <a:t>more on this later</a:t>
            </a:r>
            <a:r>
              <a:rPr i="0" lang="en-US" sz="1600" u="none" cap="none" strike="noStrike">
                <a:solidFill>
                  <a:srgbClr val="808183"/>
                </a:solidFill>
              </a:rPr>
              <a:t>) </a:t>
            </a:r>
            <a:r>
              <a:rPr lang="en-US" sz="1600">
                <a:solidFill>
                  <a:srgbClr val="808183"/>
                </a:solidFill>
              </a:rPr>
              <a:t>MVP</a:t>
            </a:r>
            <a:r>
              <a:rPr i="0" lang="en-US" sz="1600" u="none" cap="none" strike="noStrike">
                <a:solidFill>
                  <a:srgbClr val="808183"/>
                </a:solidFill>
              </a:rPr>
              <a:t> in two sessions</a:t>
            </a:r>
            <a:endParaRPr i="0" sz="1600" u="none" cap="none" strike="noStrike">
              <a:solidFill>
                <a:srgbClr val="808183"/>
              </a:solidFill>
            </a:endParaRPr>
          </a:p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●"/>
            </a:pPr>
            <a:r>
              <a:rPr lang="en-US" sz="1600">
                <a:solidFill>
                  <a:srgbClr val="808183"/>
                </a:solidFill>
              </a:rPr>
              <a:t>The rest of the sessions were refinement</a:t>
            </a:r>
            <a:endParaRPr sz="1600">
              <a:solidFill>
                <a:srgbClr val="808183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A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/>
          <p:nvPr/>
        </p:nvSpPr>
        <p:spPr>
          <a:xfrm>
            <a:off x="285750" y="285750"/>
            <a:ext cx="566413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46484B"/>
                </a:solidFill>
                <a:latin typeface="Arial"/>
                <a:ea typeface="Arial"/>
                <a:cs typeface="Arial"/>
                <a:sym typeface="Arial"/>
              </a:rPr>
              <a:t>How My Approach Changed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285750" y="971550"/>
            <a:ext cx="3419856" cy="2963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95"/>
              </a:lnSpc>
              <a:spcBef>
                <a:spcPts val="0"/>
              </a:spcBef>
              <a:spcAft>
                <a:spcPts val="0"/>
              </a:spcAft>
              <a:buClr>
                <a:srgbClr val="BCBDBF"/>
              </a:buClr>
              <a:buSzPts val="2100"/>
              <a:buFont typeface="Arial"/>
              <a:buNone/>
            </a:pPr>
            <a:r>
              <a:rPr b="1" i="0" lang="en-US" sz="2100" cap="none" strike="noStrike">
                <a:solidFill>
                  <a:srgbClr val="46484B"/>
                </a:solidFill>
              </a:rPr>
              <a:t>Before: Traditional Coding</a:t>
            </a:r>
            <a:endParaRPr i="0" sz="2100" cap="none" strike="noStrike">
              <a:solidFill>
                <a:srgbClr val="46484B"/>
              </a:solidFill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85750" y="1420274"/>
            <a:ext cx="4134000" cy="327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" name="Google Shape;86;p4"/>
          <p:cNvCxnSpPr/>
          <p:nvPr/>
        </p:nvCxnSpPr>
        <p:spPr>
          <a:xfrm>
            <a:off x="300038" y="1420274"/>
            <a:ext cx="0" cy="3274800"/>
          </a:xfrm>
          <a:prstGeom prst="straightConnector1">
            <a:avLst/>
          </a:prstGeom>
          <a:noFill/>
          <a:ln cap="flat" cmpd="sng" w="28575">
            <a:solidFill>
              <a:srgbClr val="BCBD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4"/>
          <p:cNvSpPr/>
          <p:nvPr/>
        </p:nvSpPr>
        <p:spPr>
          <a:xfrm>
            <a:off x="466725" y="1805564"/>
            <a:ext cx="3800400" cy="25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1425" spcFirstLastPara="1" rIns="0" wrap="square" tIns="0">
            <a:noAutofit/>
          </a:bodyPr>
          <a:lstStyle/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Font typeface="Arial"/>
              <a:buAutoNum type="arabicPeriod"/>
            </a:pPr>
            <a:r>
              <a:rPr lang="en-US" sz="1600">
                <a:solidFill>
                  <a:srgbClr val="808183"/>
                </a:solidFill>
              </a:rPr>
              <a:t>Come up with an idea</a:t>
            </a:r>
            <a:endParaRPr sz="1600">
              <a:solidFill>
                <a:srgbClr val="808183"/>
              </a:solidFill>
            </a:endParaRPr>
          </a:p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Write every line myself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Debug syntax errors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Search Stack Overflow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Slow progress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Bottleneck: Writing code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724400" y="971550"/>
            <a:ext cx="2934081" cy="2963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95"/>
              </a:lnSpc>
              <a:spcBef>
                <a:spcPts val="0"/>
              </a:spcBef>
              <a:spcAft>
                <a:spcPts val="0"/>
              </a:spcAft>
              <a:buClr>
                <a:srgbClr val="799ED3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799ED3"/>
                </a:solidFill>
                <a:latin typeface="Arial"/>
                <a:ea typeface="Arial"/>
                <a:cs typeface="Arial"/>
                <a:sym typeface="Arial"/>
              </a:rPr>
              <a:t>After: Claude-Assisted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4724400" y="1420274"/>
            <a:ext cx="4134000" cy="3274800"/>
          </a:xfrm>
          <a:prstGeom prst="rect">
            <a:avLst/>
          </a:prstGeom>
          <a:solidFill>
            <a:srgbClr val="F0F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4"/>
          <p:cNvCxnSpPr/>
          <p:nvPr/>
        </p:nvCxnSpPr>
        <p:spPr>
          <a:xfrm>
            <a:off x="4738688" y="1420274"/>
            <a:ext cx="0" cy="3274800"/>
          </a:xfrm>
          <a:prstGeom prst="straightConnector1">
            <a:avLst/>
          </a:prstGeom>
          <a:noFill/>
          <a:ln cap="flat" cmpd="sng" w="28575">
            <a:solidFill>
              <a:srgbClr val="799E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" name="Google Shape;91;p4"/>
          <p:cNvSpPr/>
          <p:nvPr/>
        </p:nvSpPr>
        <p:spPr>
          <a:xfrm>
            <a:off x="4905375" y="1805545"/>
            <a:ext cx="3800400" cy="25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1425" spcFirstLastPara="1" rIns="0" wrap="square" tIns="0">
            <a:noAutofit/>
          </a:bodyPr>
          <a:lstStyle/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Font typeface="Arial"/>
              <a:buAutoNum type="arabicPeriod"/>
            </a:pPr>
            <a:r>
              <a:rPr lang="en-US" sz="1600">
                <a:solidFill>
                  <a:srgbClr val="808183"/>
                </a:solidFill>
              </a:rPr>
              <a:t>Come up with an Idea</a:t>
            </a:r>
            <a:endParaRPr sz="1600">
              <a:solidFill>
                <a:srgbClr val="808183"/>
              </a:solidFill>
            </a:endParaRPr>
          </a:p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Describe what I want in a prompt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Claude generates implementation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I test and validate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Iterate based on results with more prompts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Bottleneck: Testing AI output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A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"/>
          <p:cNvSpPr/>
          <p:nvPr/>
        </p:nvSpPr>
        <p:spPr>
          <a:xfrm>
            <a:off x="285750" y="285750"/>
            <a:ext cx="4381691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46484B"/>
                </a:solidFill>
                <a:latin typeface="Arial"/>
                <a:ea typeface="Arial"/>
                <a:cs typeface="Arial"/>
                <a:sym typeface="Arial"/>
              </a:rPr>
              <a:t>What I (Claude) Built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285750" y="1085850"/>
            <a:ext cx="4152900" cy="1215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000000">
                <a:alpha val="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" name="Google Shape;99;p5"/>
          <p:cNvCxnSpPr/>
          <p:nvPr/>
        </p:nvCxnSpPr>
        <p:spPr>
          <a:xfrm>
            <a:off x="285750" y="1100138"/>
            <a:ext cx="4152900" cy="0"/>
          </a:xfrm>
          <a:prstGeom prst="straightConnector1">
            <a:avLst/>
          </a:prstGeom>
          <a:noFill/>
          <a:ln cap="flat" cmpd="sng" w="28575">
            <a:solidFill>
              <a:srgbClr val="799E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5"/>
          <p:cNvSpPr/>
          <p:nvPr/>
        </p:nvSpPr>
        <p:spPr>
          <a:xfrm>
            <a:off x="457200" y="1285875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1500"/>
              <a:buFont typeface="Arial"/>
              <a:buNone/>
            </a:pPr>
            <a:r>
              <a:rPr b="1" i="0" lang="en-US" sz="1600" u="none" cap="none" strike="noStrike">
                <a:solidFill>
                  <a:srgbClr val="46484B"/>
                </a:solidFill>
              </a:rPr>
              <a:t>SyncFlow - Multiplayer Game (9)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457200" y="1590675"/>
            <a:ext cx="388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050"/>
              <a:buFont typeface="Arial"/>
              <a:buNone/>
            </a:pPr>
            <a:r>
              <a:rPr i="0" lang="en-US" sz="1600" u="none" cap="none" strike="noStrike">
                <a:solidFill>
                  <a:srgbClr val="808183"/>
                </a:solidFill>
              </a:rPr>
              <a:t>Node.js + Socket.IO + React + AI bot timing algorithms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285750" y="2430474"/>
            <a:ext cx="4152900" cy="1200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000000">
                <a:alpha val="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5"/>
          <p:cNvCxnSpPr/>
          <p:nvPr/>
        </p:nvCxnSpPr>
        <p:spPr>
          <a:xfrm>
            <a:off x="285750" y="2444765"/>
            <a:ext cx="4152900" cy="0"/>
          </a:xfrm>
          <a:prstGeom prst="straightConnector1">
            <a:avLst/>
          </a:prstGeom>
          <a:noFill/>
          <a:ln cap="flat" cmpd="sng" w="28575">
            <a:solidFill>
              <a:srgbClr val="799E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5"/>
          <p:cNvSpPr/>
          <p:nvPr/>
        </p:nvSpPr>
        <p:spPr>
          <a:xfrm>
            <a:off x="457200" y="2630502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1500"/>
              <a:buFont typeface="Arial"/>
              <a:buNone/>
            </a:pPr>
            <a:r>
              <a:rPr b="1" i="0" lang="en-US" sz="1600" u="none" cap="none" strike="noStrike">
                <a:solidFill>
                  <a:srgbClr val="46484B"/>
                </a:solidFill>
              </a:rPr>
              <a:t>GraphQL Challenges (8)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57200" y="2935302"/>
            <a:ext cx="3886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050"/>
              <a:buFont typeface="Arial"/>
              <a:buNone/>
            </a:pPr>
            <a:r>
              <a:rPr i="0" lang="en-US" sz="1600" u="none" cap="none" strike="noStrike">
                <a:solidFill>
                  <a:srgbClr val="808183"/>
                </a:solidFill>
              </a:rPr>
              <a:t>Introspection, NoSQL injection, rate limiting, auth bypass, etc.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4667450" y="1100150"/>
            <a:ext cx="4152900" cy="1200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000000">
                <a:alpha val="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5"/>
          <p:cNvCxnSpPr/>
          <p:nvPr/>
        </p:nvCxnSpPr>
        <p:spPr>
          <a:xfrm>
            <a:off x="4667450" y="1114440"/>
            <a:ext cx="4152900" cy="0"/>
          </a:xfrm>
          <a:prstGeom prst="straightConnector1">
            <a:avLst/>
          </a:prstGeom>
          <a:noFill/>
          <a:ln cap="flat" cmpd="sng" w="28575">
            <a:solidFill>
              <a:srgbClr val="799E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5"/>
          <p:cNvSpPr/>
          <p:nvPr/>
        </p:nvSpPr>
        <p:spPr>
          <a:xfrm>
            <a:off x="4838900" y="1300177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1500"/>
              <a:buFont typeface="Arial"/>
              <a:buNone/>
            </a:pPr>
            <a:r>
              <a:rPr b="1" i="0" lang="en-US" sz="1600" u="none" cap="none" strike="noStrike">
                <a:solidFill>
                  <a:srgbClr val="46484B"/>
                </a:solidFill>
              </a:rPr>
              <a:t>Encoding Challenges (4)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4838900" y="1604977"/>
            <a:ext cx="3886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050"/>
              <a:buFont typeface="Arial"/>
              <a:buNone/>
            </a:pPr>
            <a:r>
              <a:rPr i="0" lang="en-US" sz="1600" u="none" cap="none" strike="noStrike">
                <a:solidFill>
                  <a:srgbClr val="808183"/>
                </a:solidFill>
              </a:rPr>
              <a:t>QR codes, RGB ASCII, DTMF tones, Morse video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4667450" y="2430474"/>
            <a:ext cx="4152900" cy="1200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000000">
                <a:alpha val="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5"/>
          <p:cNvCxnSpPr/>
          <p:nvPr/>
        </p:nvCxnSpPr>
        <p:spPr>
          <a:xfrm>
            <a:off x="4667450" y="2444765"/>
            <a:ext cx="4152900" cy="0"/>
          </a:xfrm>
          <a:prstGeom prst="straightConnector1">
            <a:avLst/>
          </a:prstGeom>
          <a:noFill/>
          <a:ln cap="flat" cmpd="sng" w="28575">
            <a:solidFill>
              <a:srgbClr val="799E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5"/>
          <p:cNvSpPr/>
          <p:nvPr/>
        </p:nvSpPr>
        <p:spPr>
          <a:xfrm>
            <a:off x="4838900" y="2630502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1500"/>
              <a:buFont typeface="Arial"/>
              <a:buNone/>
            </a:pPr>
            <a:r>
              <a:rPr b="1" i="0" lang="en-US" sz="1600" u="none" cap="none" strike="noStrike">
                <a:solidFill>
                  <a:srgbClr val="46484B"/>
                </a:solidFill>
              </a:rPr>
              <a:t>CTFd Platform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4838900" y="2935302"/>
            <a:ext cx="3886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050"/>
              <a:buFont typeface="Arial"/>
              <a:buNone/>
            </a:pPr>
            <a:r>
              <a:rPr i="0" lang="en-US" sz="1600" u="none" cap="none" strike="noStrike">
                <a:solidFill>
                  <a:srgbClr val="808183"/>
                </a:solidFill>
              </a:rPr>
              <a:t>Custom theme + dynamic scoring + integration w</a:t>
            </a:r>
            <a:r>
              <a:rPr lang="en-US" sz="1600">
                <a:solidFill>
                  <a:srgbClr val="808183"/>
                </a:solidFill>
              </a:rPr>
              <a:t>ith</a:t>
            </a:r>
            <a:r>
              <a:rPr i="0" lang="en-US" sz="1600" u="none" cap="none" strike="noStrike">
                <a:solidFill>
                  <a:srgbClr val="808183"/>
                </a:solidFill>
              </a:rPr>
              <a:t> badge backend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285750" y="3760700"/>
            <a:ext cx="4152900" cy="876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000000">
                <a:alpha val="98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" name="Google Shape;115;p5"/>
          <p:cNvCxnSpPr/>
          <p:nvPr/>
        </p:nvCxnSpPr>
        <p:spPr>
          <a:xfrm>
            <a:off x="285750" y="3774988"/>
            <a:ext cx="4152900" cy="0"/>
          </a:xfrm>
          <a:prstGeom prst="straightConnector1">
            <a:avLst/>
          </a:prstGeom>
          <a:noFill/>
          <a:ln cap="flat" cmpd="sng" w="28575">
            <a:solidFill>
              <a:srgbClr val="799E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5"/>
          <p:cNvSpPr/>
          <p:nvPr/>
        </p:nvSpPr>
        <p:spPr>
          <a:xfrm>
            <a:off x="457200" y="3960725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1500"/>
              <a:buFont typeface="Arial"/>
              <a:buNone/>
            </a:pPr>
            <a:r>
              <a:rPr b="1" lang="en-US" sz="1600">
                <a:solidFill>
                  <a:srgbClr val="46484B"/>
                </a:solidFill>
              </a:rPr>
              <a:t>Middleware Challenges (5)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57200" y="4265525"/>
            <a:ext cx="3886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050"/>
              <a:buFont typeface="Arial"/>
              <a:buNone/>
            </a:pPr>
            <a:r>
              <a:rPr lang="en-US" sz="1600">
                <a:solidFill>
                  <a:srgbClr val="808183"/>
                </a:solidFill>
              </a:rPr>
              <a:t>HTTP Header bypass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A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fa84ddee4_0_88"/>
          <p:cNvSpPr/>
          <p:nvPr/>
        </p:nvSpPr>
        <p:spPr>
          <a:xfrm>
            <a:off x="285750" y="285750"/>
            <a:ext cx="43818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46484B"/>
                </a:solidFill>
                <a:latin typeface="Arial"/>
                <a:ea typeface="Arial"/>
                <a:cs typeface="Arial"/>
                <a:sym typeface="Arial"/>
              </a:rPr>
              <a:t>What I (Claude) Built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9fa84ddee4_0_88"/>
          <p:cNvSpPr/>
          <p:nvPr/>
        </p:nvSpPr>
        <p:spPr>
          <a:xfrm>
            <a:off x="285750" y="963125"/>
            <a:ext cx="2127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799ED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99ED3"/>
                </a:solidFill>
                <a:latin typeface="Arial"/>
                <a:ea typeface="Arial"/>
                <a:cs typeface="Arial"/>
                <a:sym typeface="Arial"/>
              </a:rPr>
              <a:t>Infrastructure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9fa84ddee4_0_88"/>
          <p:cNvSpPr/>
          <p:nvPr/>
        </p:nvSpPr>
        <p:spPr>
          <a:xfrm>
            <a:off x="285750" y="1369423"/>
            <a:ext cx="4152900" cy="3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1425" spcFirstLastPara="1" rIns="0" wrap="square" tIns="0">
            <a:noAutofit/>
          </a:bodyPr>
          <a:lstStyle/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●"/>
            </a:pPr>
            <a:r>
              <a:rPr i="0" lang="en-US" sz="1600" u="none" cap="none" strike="noStrike">
                <a:solidFill>
                  <a:srgbClr val="808183"/>
                </a:solidFill>
              </a:rPr>
              <a:t>Docker containers for each challenge</a:t>
            </a:r>
            <a:endParaRPr i="0" sz="1600" u="none" cap="none" strike="noStrike">
              <a:solidFill>
                <a:schemeClr val="dk1"/>
              </a:solidFill>
            </a:endParaRPr>
          </a:p>
          <a:p>
            <a:pPr indent="-330200" lvl="1" marL="9144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○"/>
            </a:pPr>
            <a:r>
              <a:rPr i="0" lang="en-US" sz="1600" u="none" cap="none" strike="noStrike">
                <a:solidFill>
                  <a:srgbClr val="808183"/>
                </a:solidFill>
              </a:rPr>
              <a:t>nginx reverse proxy</a:t>
            </a:r>
            <a:endParaRPr i="0" sz="1600" u="none" cap="none" strike="noStrike">
              <a:solidFill>
                <a:srgbClr val="808183"/>
              </a:solidFill>
            </a:endParaRPr>
          </a:p>
          <a:p>
            <a:pPr indent="-330200" lvl="1" marL="9144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○"/>
            </a:pPr>
            <a:r>
              <a:rPr lang="en-US" sz="1600">
                <a:solidFill>
                  <a:srgbClr val="808183"/>
                </a:solidFill>
              </a:rPr>
              <a:t>Databases</a:t>
            </a:r>
            <a:endParaRPr sz="1600">
              <a:solidFill>
                <a:srgbClr val="808183"/>
              </a:solidFill>
            </a:endParaRPr>
          </a:p>
          <a:p>
            <a:pPr indent="-330200" lvl="1" marL="9144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○"/>
            </a:pPr>
            <a:r>
              <a:rPr i="0" lang="en-US" sz="1600" u="none" cap="none" strike="noStrike">
                <a:solidFill>
                  <a:srgbClr val="808183"/>
                </a:solidFill>
              </a:rPr>
              <a:t>LetsEncrypt SSL/TLS automation</a:t>
            </a:r>
            <a:endParaRPr i="0" sz="1600" u="none" cap="none" strike="noStrike">
              <a:solidFill>
                <a:srgbClr val="808183"/>
              </a:solidFill>
            </a:endParaRPr>
          </a:p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●"/>
            </a:pPr>
            <a:r>
              <a:rPr lang="en-US" sz="1600">
                <a:solidFill>
                  <a:srgbClr val="808183"/>
                </a:solidFill>
              </a:rPr>
              <a:t>AWS</a:t>
            </a:r>
            <a:endParaRPr sz="1600">
              <a:solidFill>
                <a:srgbClr val="808183"/>
              </a:solidFill>
            </a:endParaRPr>
          </a:p>
          <a:p>
            <a:pPr indent="-330200" lvl="1" marL="9144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○"/>
            </a:pPr>
            <a:r>
              <a:rPr lang="en-US" sz="1600">
                <a:solidFill>
                  <a:srgbClr val="808183"/>
                </a:solidFill>
              </a:rPr>
              <a:t>EC2 instances</a:t>
            </a:r>
            <a:endParaRPr sz="1600">
              <a:solidFill>
                <a:srgbClr val="808183"/>
              </a:solidFill>
            </a:endParaRPr>
          </a:p>
          <a:p>
            <a:pPr indent="-330200" lvl="1" marL="9144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○"/>
            </a:pPr>
            <a:r>
              <a:rPr i="0" lang="en-US" sz="1600" u="none" cap="none" strike="noStrike">
                <a:solidFill>
                  <a:srgbClr val="808183"/>
                </a:solidFill>
              </a:rPr>
              <a:t>Route 53 DNS management</a:t>
            </a:r>
            <a:endParaRPr i="0" sz="1600" u="none" cap="none" strike="noStrike">
              <a:solidFill>
                <a:srgbClr val="808183"/>
              </a:solidFill>
            </a:endParaRPr>
          </a:p>
          <a:p>
            <a:pPr indent="-330200" lvl="1" marL="9144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○"/>
            </a:pPr>
            <a:r>
              <a:rPr lang="en-US" sz="1600">
                <a:solidFill>
                  <a:srgbClr val="808183"/>
                </a:solidFill>
              </a:rPr>
              <a:t>Python script for deployment</a:t>
            </a:r>
            <a:endParaRPr sz="1600">
              <a:solidFill>
                <a:srgbClr val="808183"/>
              </a:solidFill>
            </a:endParaRPr>
          </a:p>
        </p:txBody>
      </p:sp>
      <p:sp>
        <p:nvSpPr>
          <p:cNvPr id="126" name="Google Shape;126;g39fa84ddee4_0_88"/>
          <p:cNvSpPr/>
          <p:nvPr/>
        </p:nvSpPr>
        <p:spPr>
          <a:xfrm>
            <a:off x="4667550" y="1369423"/>
            <a:ext cx="4152900" cy="2980200"/>
          </a:xfrm>
          <a:prstGeom prst="roundRect">
            <a:avLst>
              <a:gd fmla="val 5714" name="adj"/>
            </a:avLst>
          </a:prstGeom>
          <a:solidFill>
            <a:srgbClr val="799E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39fa84ddee4_0_88"/>
          <p:cNvSpPr/>
          <p:nvPr/>
        </p:nvSpPr>
        <p:spPr>
          <a:xfrm>
            <a:off x="4820331" y="1559926"/>
            <a:ext cx="3847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</a:rPr>
              <a:t>26</a:t>
            </a: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challenges + infrastructure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39fa84ddee4_0_88"/>
          <p:cNvSpPr/>
          <p:nvPr/>
        </p:nvSpPr>
        <p:spPr>
          <a:xfrm>
            <a:off x="4820325" y="1950442"/>
            <a:ext cx="3847200" cy="21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-US" sz="1600" u="none" cap="none" strike="noStrike">
                <a:solidFill>
                  <a:srgbClr val="FFFFFF"/>
                </a:solidFill>
              </a:rPr>
              <a:t>Claude assistance in </a:t>
            </a:r>
            <a:r>
              <a:rPr lang="en-US" sz="1600">
                <a:solidFill>
                  <a:srgbClr val="FFFFFF"/>
                </a:solidFill>
              </a:rPr>
              <a:t>4 months</a:t>
            </a:r>
            <a:endParaRPr sz="1600">
              <a:solidFill>
                <a:srgbClr val="FFFFFF"/>
              </a:solidFill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lang="en-US" sz="1600">
                <a:solidFill>
                  <a:srgbClr val="FFFFFF"/>
                </a:solidFill>
              </a:rPr>
              <a:t>Working 2 hours some nights</a:t>
            </a:r>
            <a:endParaRPr sz="1600">
              <a:solidFill>
                <a:srgbClr val="FFFFFF"/>
              </a:solidFill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lang="en-US" sz="1600">
                <a:solidFill>
                  <a:srgbClr val="FFFFFF"/>
                </a:solidFill>
              </a:rPr>
              <a:t>Working 4 hours during weekends</a:t>
            </a:r>
            <a:endParaRPr sz="1600">
              <a:solidFill>
                <a:srgbClr val="FFFFFF"/>
              </a:solidFill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lang="en-US" sz="1600">
                <a:solidFill>
                  <a:srgbClr val="FFFFFF"/>
                </a:solidFill>
              </a:rPr>
              <a:t>Sometimes two VS Code sessions to reach Claude limits faster</a:t>
            </a:r>
            <a:endParaRPr sz="1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A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/>
          <p:nvPr/>
        </p:nvSpPr>
        <p:spPr>
          <a:xfrm>
            <a:off x="247650" y="247650"/>
            <a:ext cx="7558659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46484B"/>
                </a:solidFill>
                <a:latin typeface="Arial"/>
                <a:ea typeface="Arial"/>
                <a:cs typeface="Arial"/>
                <a:sym typeface="Arial"/>
              </a:rPr>
              <a:t>SyncFlow: The Multiplayer Challenge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247650" y="933450"/>
            <a:ext cx="2147126" cy="2963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95"/>
              </a:lnSpc>
              <a:spcBef>
                <a:spcPts val="0"/>
              </a:spcBef>
              <a:spcAft>
                <a:spcPts val="0"/>
              </a:spcAft>
              <a:buClr>
                <a:srgbClr val="799ED3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799ED3"/>
                </a:solidFill>
                <a:latin typeface="Arial"/>
                <a:ea typeface="Arial"/>
                <a:cs typeface="Arial"/>
                <a:sym typeface="Arial"/>
              </a:rPr>
              <a:t>The Concept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247650" y="1382167"/>
            <a:ext cx="41910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1425" spcFirstLastPara="1" rIns="0" wrap="square" tIns="0">
            <a:noAutofit/>
          </a:bodyPr>
          <a:lstStyle/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●"/>
            </a:pPr>
            <a:r>
              <a:rPr i="0" lang="en-US" sz="1600" u="none" cap="none" strike="noStrike">
                <a:solidFill>
                  <a:srgbClr val="808183"/>
                </a:solidFill>
              </a:rPr>
              <a:t>Inspired by "The Mind" board game</a:t>
            </a:r>
            <a:endParaRPr i="0" sz="1600" u="none" cap="none" strike="noStrike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●"/>
            </a:pPr>
            <a:r>
              <a:rPr i="0" lang="en-US" sz="1600" u="none" cap="none" strike="noStrike">
                <a:solidFill>
                  <a:srgbClr val="808183"/>
                </a:solidFill>
              </a:rPr>
              <a:t>Play cards 1-100 in ascending order</a:t>
            </a:r>
            <a:endParaRPr i="0" sz="1600" u="none" cap="none" strike="noStrike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●"/>
            </a:pPr>
            <a:r>
              <a:rPr i="0" lang="en-US" sz="1600" u="none" cap="none" strike="noStrike">
                <a:solidFill>
                  <a:srgbClr val="808183"/>
                </a:solidFill>
              </a:rPr>
              <a:t>N</a:t>
            </a:r>
            <a:r>
              <a:rPr lang="en-US" sz="1600">
                <a:solidFill>
                  <a:srgbClr val="808183"/>
                </a:solidFill>
              </a:rPr>
              <a:t>o</a:t>
            </a:r>
            <a:r>
              <a:rPr i="0" lang="en-US" sz="1600" u="none" cap="none" strike="noStrike">
                <a:solidFill>
                  <a:srgbClr val="808183"/>
                </a:solidFill>
              </a:rPr>
              <a:t> player communication allowed</a:t>
            </a:r>
            <a:endParaRPr i="0" sz="1600" u="none" cap="none" strike="noStrike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●"/>
            </a:pPr>
            <a:r>
              <a:rPr i="0" lang="en-US" sz="1600" u="none" cap="none" strike="noStrike">
                <a:solidFill>
                  <a:srgbClr val="808183"/>
                </a:solidFill>
              </a:rPr>
              <a:t>Single-player mode with AI bot</a:t>
            </a:r>
            <a:endParaRPr i="0" sz="1600" u="none" cap="none" strike="noStrike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●"/>
            </a:pPr>
            <a:r>
              <a:rPr i="0" lang="en-US" sz="1600" u="none" cap="none" strike="noStrike">
                <a:solidFill>
                  <a:srgbClr val="808183"/>
                </a:solidFill>
              </a:rPr>
              <a:t>Flags at levels 4, </a:t>
            </a:r>
            <a:r>
              <a:rPr lang="en-US" sz="1600">
                <a:solidFill>
                  <a:srgbClr val="808183"/>
                </a:solidFill>
              </a:rPr>
              <a:t>8, 12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205738" y="3519492"/>
            <a:ext cx="427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1500"/>
              <a:buFont typeface="Arial"/>
              <a:buNone/>
            </a:pPr>
            <a:r>
              <a:rPr b="1" i="0" lang="en-US" sz="1600" u="none" cap="none" strike="noStrike">
                <a:solidFill>
                  <a:srgbClr val="46484B"/>
                </a:solidFill>
                <a:latin typeface="Arial"/>
                <a:ea typeface="Arial"/>
                <a:cs typeface="Arial"/>
                <a:sym typeface="Arial"/>
              </a:rPr>
              <a:t>The Twist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205750" y="3824323"/>
            <a:ext cx="42747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125"/>
              <a:buFont typeface="Arial"/>
              <a:buNone/>
            </a:pPr>
            <a:r>
              <a:rPr b="0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Two dealing modes: random vs. predictable</a:t>
            </a:r>
            <a:endParaRPr b="0" i="0" sz="1600" u="none" cap="none" strike="noStrike">
              <a:solidFill>
                <a:srgbClr val="80818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125"/>
              <a:buFont typeface="Arial"/>
              <a:buNone/>
            </a:pPr>
            <a:r>
              <a:rPr lang="en-US" sz="1600">
                <a:solidFill>
                  <a:srgbClr val="808183"/>
                </a:solidFill>
              </a:rPr>
              <a:t>Two card types: decimal and hex</a:t>
            </a:r>
            <a:endParaRPr sz="1600">
              <a:solidFill>
                <a:srgbClr val="808183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A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g39fa84ddee4_0_2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538" y="152400"/>
            <a:ext cx="3660364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g39fa84ddee4_0_2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2837" y="152400"/>
            <a:ext cx="1429525" cy="34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g39fa84ddee4_0_2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02837" y="493000"/>
            <a:ext cx="3398625" cy="374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fa84ddee4_0_299"/>
          <p:cNvSpPr/>
          <p:nvPr/>
        </p:nvSpPr>
        <p:spPr>
          <a:xfrm>
            <a:off x="847950" y="1890750"/>
            <a:ext cx="74481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4200"/>
              <a:buFont typeface="Arial"/>
              <a:buNone/>
            </a:pPr>
            <a:r>
              <a:rPr b="1" lang="en-US" sz="4200">
                <a:solidFill>
                  <a:srgbClr val="46484B"/>
                </a:solidFill>
              </a:rPr>
              <a:t>Demo SyncFlow </a:t>
            </a:r>
            <a:endParaRPr b="1" sz="4200">
              <a:solidFill>
                <a:srgbClr val="46484B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4200"/>
              <a:buFont typeface="Arial"/>
              <a:buNone/>
            </a:pPr>
            <a:r>
              <a:rPr b="1" lang="en-US" sz="4200">
                <a:solidFill>
                  <a:srgbClr val="46484B"/>
                </a:solidFill>
              </a:rPr>
              <a:t>(“The Mind”)</a:t>
            </a:r>
            <a:endParaRPr b="0" i="0" sz="4200" u="none" cap="none" strike="noStrike">
              <a:solidFill>
                <a:srgbClr val="799ED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A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/>
          <p:nvPr/>
        </p:nvSpPr>
        <p:spPr>
          <a:xfrm>
            <a:off x="285750" y="285750"/>
            <a:ext cx="4381691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46484B"/>
                </a:solidFill>
                <a:latin typeface="Arial"/>
                <a:ea typeface="Arial"/>
                <a:cs typeface="Arial"/>
                <a:sym typeface="Arial"/>
              </a:rPr>
              <a:t>GraphQL Challenges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285750" y="971550"/>
            <a:ext cx="2506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95"/>
              </a:lnSpc>
              <a:spcBef>
                <a:spcPts val="0"/>
              </a:spcBef>
              <a:spcAft>
                <a:spcPts val="0"/>
              </a:spcAft>
              <a:buClr>
                <a:srgbClr val="799ED3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799ED3"/>
                </a:solidFill>
                <a:latin typeface="Arial"/>
                <a:ea typeface="Arial"/>
                <a:cs typeface="Arial"/>
                <a:sym typeface="Arial"/>
              </a:rPr>
              <a:t>Real Vulnerabilities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285750" y="1371597"/>
            <a:ext cx="3627900" cy="31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noAutofit/>
          </a:bodyPr>
          <a:lstStyle/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Introspection attacks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NoSQL injection via GraphQL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Rate limiting bypass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Authorization flaws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Field suggestions exploitation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Query depth attacks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Batch query abuse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Type confusion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g39fa84ddee4_0_2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735761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g39fa84ddee4_0_2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40561" y="152400"/>
            <a:ext cx="3586271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A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fa84ddee4_0_336"/>
          <p:cNvSpPr/>
          <p:nvPr/>
        </p:nvSpPr>
        <p:spPr>
          <a:xfrm>
            <a:off x="285750" y="285750"/>
            <a:ext cx="8219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46484B"/>
                </a:solidFill>
              </a:rPr>
              <a:t>Middleware</a:t>
            </a:r>
            <a:r>
              <a:rPr b="1" i="0" lang="en-US" sz="3300" u="none" cap="none" strike="noStrike">
                <a:solidFill>
                  <a:srgbClr val="46484B"/>
                </a:solidFill>
                <a:latin typeface="Arial"/>
                <a:ea typeface="Arial"/>
                <a:cs typeface="Arial"/>
                <a:sym typeface="Arial"/>
              </a:rPr>
              <a:t> Challenges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9fa84ddee4_0_336"/>
          <p:cNvSpPr/>
          <p:nvPr/>
        </p:nvSpPr>
        <p:spPr>
          <a:xfrm>
            <a:off x="285750" y="971550"/>
            <a:ext cx="5294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95"/>
              </a:lnSpc>
              <a:spcBef>
                <a:spcPts val="0"/>
              </a:spcBef>
              <a:spcAft>
                <a:spcPts val="0"/>
              </a:spcAft>
              <a:buClr>
                <a:srgbClr val="799ED3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799ED3"/>
                </a:solidFill>
              </a:rPr>
              <a:t>Access a Sensitive endpoint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9fa84ddee4_0_336"/>
          <p:cNvSpPr/>
          <p:nvPr/>
        </p:nvSpPr>
        <p:spPr>
          <a:xfrm>
            <a:off x="285750" y="1371597"/>
            <a:ext cx="3627900" cy="31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noAutofit/>
          </a:bodyPr>
          <a:lstStyle/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Font typeface="Arial"/>
              <a:buChar char="●"/>
            </a:pPr>
            <a:r>
              <a:rPr lang="en-US" sz="1600">
                <a:solidFill>
                  <a:srgbClr val="808183"/>
                </a:solidFill>
              </a:rPr>
              <a:t>Use different HTTP headers to access the sensitive endpoint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fa84ddee4_0_343"/>
          <p:cNvSpPr/>
          <p:nvPr/>
        </p:nvSpPr>
        <p:spPr>
          <a:xfrm>
            <a:off x="847950" y="1890750"/>
            <a:ext cx="74481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4200"/>
              <a:buFont typeface="Arial"/>
              <a:buNone/>
            </a:pPr>
            <a:r>
              <a:rPr b="1" lang="en-US" sz="4200">
                <a:solidFill>
                  <a:srgbClr val="46484B"/>
                </a:solidFill>
              </a:rPr>
              <a:t>Demo Middleware</a:t>
            </a:r>
            <a:endParaRPr b="0" i="0" sz="4200" u="none" cap="none" strike="noStrike">
              <a:solidFill>
                <a:srgbClr val="799ED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A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"/>
          <p:cNvSpPr/>
          <p:nvPr/>
        </p:nvSpPr>
        <p:spPr>
          <a:xfrm>
            <a:off x="285750" y="285750"/>
            <a:ext cx="7364349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46484B"/>
                </a:solidFill>
                <a:latin typeface="Arial"/>
                <a:ea typeface="Arial"/>
                <a:cs typeface="Arial"/>
                <a:sym typeface="Arial"/>
              </a:rPr>
              <a:t>Encoding Challenges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285750" y="971550"/>
            <a:ext cx="2768918" cy="2963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95"/>
              </a:lnSpc>
              <a:spcBef>
                <a:spcPts val="0"/>
              </a:spcBef>
              <a:spcAft>
                <a:spcPts val="0"/>
              </a:spcAft>
              <a:buClr>
                <a:srgbClr val="799ED3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799ED3"/>
                </a:solidFill>
                <a:latin typeface="Arial"/>
                <a:ea typeface="Arial"/>
                <a:cs typeface="Arial"/>
                <a:sym typeface="Arial"/>
              </a:rPr>
              <a:t>4 Creative Encodings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285750" y="1420267"/>
            <a:ext cx="4152900" cy="663773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000000">
                <a:alpha val="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8"/>
          <p:cNvCxnSpPr/>
          <p:nvPr/>
        </p:nvCxnSpPr>
        <p:spPr>
          <a:xfrm>
            <a:off x="285750" y="1434554"/>
            <a:ext cx="4152900" cy="0"/>
          </a:xfrm>
          <a:prstGeom prst="straightConnector1">
            <a:avLst/>
          </a:prstGeom>
          <a:noFill/>
          <a:ln cap="flat" cmpd="sng" w="28575">
            <a:solidFill>
              <a:srgbClr val="799E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8"/>
          <p:cNvSpPr/>
          <p:nvPr/>
        </p:nvSpPr>
        <p:spPr>
          <a:xfrm>
            <a:off x="400050" y="1563142"/>
            <a:ext cx="4002786" cy="182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46484B"/>
                </a:solidFill>
              </a:rPr>
              <a:t>1. QR Code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400050" y="1784003"/>
            <a:ext cx="4002786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975"/>
              <a:buFont typeface="Arial"/>
              <a:buNone/>
            </a:pPr>
            <a:r>
              <a:rPr i="0" lang="en-US" sz="1600" u="none" cap="none" strike="noStrike">
                <a:solidFill>
                  <a:srgbClr val="808183"/>
                </a:solidFill>
              </a:rPr>
              <a:t>Hidden in Matrix-style imagery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285750" y="2160240"/>
            <a:ext cx="4152900" cy="663773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000000">
                <a:alpha val="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" name="Google Shape;194;p8"/>
          <p:cNvCxnSpPr/>
          <p:nvPr/>
        </p:nvCxnSpPr>
        <p:spPr>
          <a:xfrm>
            <a:off x="285750" y="2174528"/>
            <a:ext cx="4152900" cy="0"/>
          </a:xfrm>
          <a:prstGeom prst="straightConnector1">
            <a:avLst/>
          </a:prstGeom>
          <a:noFill/>
          <a:ln cap="flat" cmpd="sng" w="28575">
            <a:solidFill>
              <a:srgbClr val="799E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8"/>
          <p:cNvSpPr/>
          <p:nvPr/>
        </p:nvSpPr>
        <p:spPr>
          <a:xfrm>
            <a:off x="400050" y="2303115"/>
            <a:ext cx="4002786" cy="182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46484B"/>
                </a:solidFill>
              </a:rPr>
              <a:t>2. RGB ASCII Art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400050" y="2523976"/>
            <a:ext cx="4002786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975"/>
              <a:buFont typeface="Arial"/>
              <a:buNone/>
            </a:pPr>
            <a:r>
              <a:rPr i="0" lang="en-US" sz="1600" u="none" cap="none" strike="noStrike">
                <a:solidFill>
                  <a:srgbClr val="808183"/>
                </a:solidFill>
              </a:rPr>
              <a:t>Flag encoded in color channels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285750" y="2900214"/>
            <a:ext cx="4152900" cy="663773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000000">
                <a:alpha val="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" name="Google Shape;198;p8"/>
          <p:cNvCxnSpPr/>
          <p:nvPr/>
        </p:nvCxnSpPr>
        <p:spPr>
          <a:xfrm>
            <a:off x="285750" y="2914501"/>
            <a:ext cx="4152900" cy="0"/>
          </a:xfrm>
          <a:prstGeom prst="straightConnector1">
            <a:avLst/>
          </a:prstGeom>
          <a:noFill/>
          <a:ln cap="flat" cmpd="sng" w="28575">
            <a:solidFill>
              <a:srgbClr val="799E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" name="Google Shape;199;p8"/>
          <p:cNvSpPr/>
          <p:nvPr/>
        </p:nvSpPr>
        <p:spPr>
          <a:xfrm>
            <a:off x="400050" y="3043089"/>
            <a:ext cx="4002786" cy="182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46484B"/>
                </a:solidFill>
              </a:rPr>
              <a:t>3. DTMF Tones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00050" y="3263950"/>
            <a:ext cx="4002786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975"/>
              <a:buFont typeface="Arial"/>
              <a:buNone/>
            </a:pPr>
            <a:r>
              <a:rPr i="0" lang="en-US" sz="1600" u="none" cap="none" strike="noStrike">
                <a:solidFill>
                  <a:srgbClr val="808183"/>
                </a:solidFill>
              </a:rPr>
              <a:t>Phone dial tones in audio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285750" y="3640187"/>
            <a:ext cx="4152900" cy="663773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000000">
                <a:alpha val="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" name="Google Shape;202;p8"/>
          <p:cNvCxnSpPr/>
          <p:nvPr/>
        </p:nvCxnSpPr>
        <p:spPr>
          <a:xfrm>
            <a:off x="285750" y="3654475"/>
            <a:ext cx="4152900" cy="0"/>
          </a:xfrm>
          <a:prstGeom prst="straightConnector1">
            <a:avLst/>
          </a:prstGeom>
          <a:noFill/>
          <a:ln cap="flat" cmpd="sng" w="28575">
            <a:solidFill>
              <a:srgbClr val="799E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8"/>
          <p:cNvSpPr/>
          <p:nvPr/>
        </p:nvSpPr>
        <p:spPr>
          <a:xfrm>
            <a:off x="400050" y="3783062"/>
            <a:ext cx="4002786" cy="182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46484B"/>
                </a:solidFill>
              </a:rPr>
              <a:t>4. Morse Video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400050" y="4003923"/>
            <a:ext cx="4002786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975"/>
              <a:buFont typeface="Arial"/>
              <a:buNone/>
            </a:pPr>
            <a:r>
              <a:rPr i="0" lang="en-US" sz="1600" u="none" cap="none" strike="noStrike">
                <a:solidFill>
                  <a:srgbClr val="808183"/>
                </a:solidFill>
              </a:rPr>
              <a:t>Flashing frames contain message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g39fa84ddee4_0_2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413517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g39fa84ddee4_0_2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8317" y="152400"/>
            <a:ext cx="3491698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A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"/>
          <p:cNvSpPr/>
          <p:nvPr/>
        </p:nvSpPr>
        <p:spPr>
          <a:xfrm>
            <a:off x="285750" y="285750"/>
            <a:ext cx="479945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46484B"/>
                </a:solidFill>
                <a:latin typeface="Arial"/>
                <a:ea typeface="Arial"/>
                <a:cs typeface="Arial"/>
                <a:sym typeface="Arial"/>
              </a:rPr>
              <a:t>The Matrix Theme Pivot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285750" y="971550"/>
            <a:ext cx="2409444" cy="2963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95"/>
              </a:lnSpc>
              <a:spcBef>
                <a:spcPts val="0"/>
              </a:spcBef>
              <a:spcAft>
                <a:spcPts val="0"/>
              </a:spcAft>
              <a:buClr>
                <a:srgbClr val="799ED3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799ED3"/>
                </a:solidFill>
                <a:latin typeface="Arial"/>
                <a:ea typeface="Arial"/>
                <a:cs typeface="Arial"/>
                <a:sym typeface="Arial"/>
              </a:rPr>
              <a:t>Days Before Event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285750" y="1420400"/>
            <a:ext cx="4216500" cy="3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Decided to add Matrix theme for visual cohesion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285750" y="2226900"/>
            <a:ext cx="4134000" cy="1473600"/>
          </a:xfrm>
          <a:prstGeom prst="rect">
            <a:avLst/>
          </a:prstGeom>
          <a:solidFill>
            <a:srgbClr val="F0F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9"/>
          <p:cNvCxnSpPr/>
          <p:nvPr/>
        </p:nvCxnSpPr>
        <p:spPr>
          <a:xfrm>
            <a:off x="300038" y="2226900"/>
            <a:ext cx="0" cy="1473600"/>
          </a:xfrm>
          <a:prstGeom prst="straightConnector1">
            <a:avLst/>
          </a:prstGeom>
          <a:noFill/>
          <a:ln cap="flat" cmpd="sng" w="28575">
            <a:solidFill>
              <a:srgbClr val="799E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p9"/>
          <p:cNvSpPr/>
          <p:nvPr/>
        </p:nvSpPr>
        <p:spPr>
          <a:xfrm>
            <a:off x="466725" y="2379300"/>
            <a:ext cx="3876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050"/>
              <a:buFont typeface="Arial"/>
              <a:buNone/>
            </a:pPr>
            <a:r>
              <a:rPr b="1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Impact: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466725" y="2655525"/>
            <a:ext cx="3876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975"/>
              <a:buFont typeface="Arial"/>
              <a:buNone/>
            </a:pPr>
            <a:r>
              <a:rPr b="0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Transformed disjointed challenges into a cohesive experience. Participants loved the aesthetic!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9fa84ddee4_0_286"/>
          <p:cNvSpPr txBox="1"/>
          <p:nvPr/>
        </p:nvSpPr>
        <p:spPr>
          <a:xfrm>
            <a:off x="252875" y="193875"/>
            <a:ext cx="8463000" cy="615600"/>
          </a:xfrm>
          <a:prstGeom prst="rect">
            <a:avLst/>
          </a:prstGeom>
          <a:solidFill>
            <a:srgbClr val="799E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I have attached the image I have right now. Can you make it look more like the matrix rain? It seems the channels R and B have too bright green.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30" name="Google Shape;230;g39fa84ddee4_0_286"/>
          <p:cNvSpPr txBox="1"/>
          <p:nvPr/>
        </p:nvSpPr>
        <p:spPr>
          <a:xfrm>
            <a:off x="252875" y="876909"/>
            <a:ext cx="8463000" cy="4063500"/>
          </a:xfrm>
          <a:prstGeom prst="rect">
            <a:avLst/>
          </a:prstGeom>
          <a:solidFill>
            <a:srgbClr val="F0F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Excellent! Now the Matrix rain effect is much better: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New darker color scheme: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R channel data</a:t>
            </a:r>
            <a:r>
              <a:rPr lang="en-US"/>
              <a:t>: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rgb(45,80,20)</a:t>
            </a:r>
            <a:r>
              <a:rPr lang="en-US"/>
              <a:t> - R has data (45='-'), G=80 (darker green), B=20 (dark) = </a:t>
            </a:r>
            <a:r>
              <a:rPr b="1" lang="en-US"/>
              <a:t>Much darker with subtle green tint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G channel data</a:t>
            </a:r>
            <a:r>
              <a:rPr lang="en-US"/>
              <a:t>: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rgb(20,32,5) </a:t>
            </a:r>
            <a:r>
              <a:rPr lang="en-US"/>
              <a:t>- R=20 (dark), G has data (32=' '), B=5 (very dark) = </a:t>
            </a:r>
            <a:r>
              <a:rPr b="1" lang="en-US"/>
              <a:t>Very dark cells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B channel data</a:t>
            </a:r>
            <a:r>
              <a:rPr lang="en-US"/>
              <a:t>: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rgb(5,80,110)</a:t>
            </a:r>
            <a:r>
              <a:rPr lang="en-US"/>
              <a:t> - R=5 (very dark), G=80 (darker green), B has data = </a:t>
            </a:r>
            <a:r>
              <a:rPr b="1" lang="en-US"/>
              <a:t>Dark with subtle green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The key improvement: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Changed G from 255 → 80 when used as filler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This creates a </a:t>
            </a:r>
            <a:r>
              <a:rPr b="1" lang="en-US"/>
              <a:t>darker, more subtle green</a:t>
            </a:r>
            <a:r>
              <a:rPr lang="en-US"/>
              <a:t> instead of bright lime green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The overall image now has a </a:t>
            </a:r>
            <a:r>
              <a:rPr b="1" lang="en-US"/>
              <a:t>dark background</a:t>
            </a:r>
            <a:r>
              <a:rPr lang="en-US"/>
              <a:t> with</a:t>
            </a:r>
            <a:r>
              <a:rPr lang="en-US"/>
              <a:t> </a:t>
            </a:r>
            <a:r>
              <a:rPr b="1" lang="en-US"/>
              <a:t>subtle green characters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More authentic Matrix rain appearance! 🟢⬛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image should now look much more like the actual Matrix with predominantly dark/black cells and subtle green highlights, rather than the bright neon green from before.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A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"/>
          <p:cNvSpPr/>
          <p:nvPr/>
        </p:nvSpPr>
        <p:spPr>
          <a:xfrm>
            <a:off x="285750" y="285750"/>
            <a:ext cx="5226939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46484B"/>
                </a:solidFill>
                <a:latin typeface="Arial"/>
                <a:ea typeface="Arial"/>
                <a:cs typeface="Arial"/>
                <a:sym typeface="Arial"/>
              </a:rPr>
              <a:t>Claude Code Frustrations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285750" y="895350"/>
            <a:ext cx="4527423" cy="2963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95"/>
              </a:lnSpc>
              <a:spcBef>
                <a:spcPts val="0"/>
              </a:spcBef>
              <a:spcAft>
                <a:spcPts val="0"/>
              </a:spcAft>
              <a:buClr>
                <a:srgbClr val="799ED3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799ED3"/>
                </a:solidFill>
                <a:latin typeface="Arial"/>
                <a:ea typeface="Arial"/>
                <a:cs typeface="Arial"/>
                <a:sym typeface="Arial"/>
              </a:rPr>
              <a:t>1. Flag Leakage in Generated 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285750" y="1344075"/>
            <a:ext cx="8531100" cy="889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000000">
                <a:alpha val="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" name="Google Shape;239;p11"/>
          <p:cNvCxnSpPr/>
          <p:nvPr/>
        </p:nvCxnSpPr>
        <p:spPr>
          <a:xfrm>
            <a:off x="285750" y="1358362"/>
            <a:ext cx="8531100" cy="0"/>
          </a:xfrm>
          <a:prstGeom prst="straightConnector1">
            <a:avLst/>
          </a:prstGeom>
          <a:noFill/>
          <a:ln cap="flat" cmpd="sng" w="28575">
            <a:solidFill>
              <a:srgbClr val="799E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p11"/>
          <p:cNvSpPr/>
          <p:nvPr/>
        </p:nvSpPr>
        <p:spPr>
          <a:xfrm>
            <a:off x="514025" y="1506057"/>
            <a:ext cx="8236200" cy="7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050"/>
              <a:buFont typeface="Arial"/>
              <a:buNone/>
            </a:pPr>
            <a:r>
              <a:rPr b="1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Problem:</a:t>
            </a:r>
            <a:r>
              <a:rPr b="0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 Claude would </a:t>
            </a:r>
            <a:r>
              <a:rPr lang="en-US" sz="1600">
                <a:solidFill>
                  <a:srgbClr val="808183"/>
                </a:solidFill>
              </a:rPr>
              <a:t>return flags in source code, comments, or web content</a:t>
            </a:r>
            <a:endParaRPr sz="1600">
              <a:solidFill>
                <a:srgbClr val="808183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050"/>
              <a:buFont typeface="Arial"/>
              <a:buNone/>
            </a:pPr>
            <a:r>
              <a:rPr b="1" lang="en-US" sz="1600">
                <a:solidFill>
                  <a:srgbClr val="808183"/>
                </a:solidFill>
              </a:rPr>
              <a:t>Solution:</a:t>
            </a:r>
            <a:r>
              <a:rPr lang="en-US" sz="1600">
                <a:solidFill>
                  <a:srgbClr val="808183"/>
                </a:solidFill>
              </a:rPr>
              <a:t> Had to explicitly instruct "store flags in environment variables, never in source"</a:t>
            </a:r>
            <a:endParaRPr sz="1600">
              <a:solidFill>
                <a:srgbClr val="808183"/>
              </a:solidFill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285750" y="2548224"/>
            <a:ext cx="45003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95"/>
              </a:lnSpc>
              <a:spcBef>
                <a:spcPts val="0"/>
              </a:spcBef>
              <a:spcAft>
                <a:spcPts val="0"/>
              </a:spcAft>
              <a:buClr>
                <a:srgbClr val="799ED3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799ED3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1" lang="en-US" sz="2100">
                <a:solidFill>
                  <a:srgbClr val="799ED3"/>
                </a:solidFill>
              </a:rPr>
              <a:t>Solution Steps in Web Pages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285750" y="2996950"/>
            <a:ext cx="8531100" cy="131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000000">
                <a:alpha val="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3" name="Google Shape;243;p11"/>
          <p:cNvCxnSpPr/>
          <p:nvPr/>
        </p:nvCxnSpPr>
        <p:spPr>
          <a:xfrm>
            <a:off x="285750" y="3011237"/>
            <a:ext cx="8531100" cy="0"/>
          </a:xfrm>
          <a:prstGeom prst="straightConnector1">
            <a:avLst/>
          </a:prstGeom>
          <a:noFill/>
          <a:ln cap="flat" cmpd="sng" w="28575">
            <a:solidFill>
              <a:srgbClr val="799E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" name="Google Shape;244;p11"/>
          <p:cNvSpPr/>
          <p:nvPr/>
        </p:nvSpPr>
        <p:spPr>
          <a:xfrm>
            <a:off x="514023" y="3158875"/>
            <a:ext cx="8235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050"/>
              <a:buFont typeface="Arial"/>
              <a:buNone/>
            </a:pPr>
            <a:r>
              <a:rPr b="1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Problem:</a:t>
            </a:r>
            <a:r>
              <a:rPr b="0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 Claude </a:t>
            </a:r>
            <a:r>
              <a:rPr lang="en-US" sz="1600">
                <a:solidFill>
                  <a:srgbClr val="808183"/>
                </a:solidFill>
              </a:rPr>
              <a:t>would try to be helpful and provide players with the steps to solve a challenge</a:t>
            </a:r>
            <a:endParaRPr sz="1600">
              <a:solidFill>
                <a:srgbClr val="808183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050"/>
              <a:buFont typeface="Arial"/>
              <a:buNone/>
            </a:pPr>
            <a:r>
              <a:rPr b="1" lang="en-US" sz="1600">
                <a:solidFill>
                  <a:srgbClr val="808183"/>
                </a:solidFill>
              </a:rPr>
              <a:t>Solution:</a:t>
            </a:r>
            <a:r>
              <a:rPr lang="en-US" sz="1600">
                <a:solidFill>
                  <a:srgbClr val="808183"/>
                </a:solidFill>
              </a:rPr>
              <a:t> Add specific instructions about not giving any hints</a:t>
            </a:r>
            <a:endParaRPr sz="1600">
              <a:solidFill>
                <a:srgbClr val="808183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A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9fa84ddee4_0_142"/>
          <p:cNvSpPr/>
          <p:nvPr/>
        </p:nvSpPr>
        <p:spPr>
          <a:xfrm>
            <a:off x="285750" y="285750"/>
            <a:ext cx="5226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46484B"/>
                </a:solidFill>
                <a:latin typeface="Arial"/>
                <a:ea typeface="Arial"/>
                <a:cs typeface="Arial"/>
                <a:sym typeface="Arial"/>
              </a:rPr>
              <a:t>Claude Code Frustrations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9fa84ddee4_0_142"/>
          <p:cNvSpPr/>
          <p:nvPr/>
        </p:nvSpPr>
        <p:spPr>
          <a:xfrm>
            <a:off x="285750" y="895350"/>
            <a:ext cx="45273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95"/>
              </a:lnSpc>
              <a:spcBef>
                <a:spcPts val="0"/>
              </a:spcBef>
              <a:spcAft>
                <a:spcPts val="0"/>
              </a:spcAft>
              <a:buClr>
                <a:srgbClr val="799ED3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799ED3"/>
                </a:solidFill>
              </a:rPr>
              <a:t>3</a:t>
            </a:r>
            <a:r>
              <a:rPr b="1" i="0" lang="en-US" sz="2100" u="none" cap="none" strike="noStrike">
                <a:solidFill>
                  <a:srgbClr val="799ED3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1" lang="en-US" sz="2100">
                <a:solidFill>
                  <a:srgbClr val="799ED3"/>
                </a:solidFill>
              </a:rPr>
              <a:t>Insecure 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9fa84ddee4_0_142"/>
          <p:cNvSpPr/>
          <p:nvPr/>
        </p:nvSpPr>
        <p:spPr>
          <a:xfrm>
            <a:off x="285750" y="1344075"/>
            <a:ext cx="8531100" cy="1749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000000">
                <a:alpha val="98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3" name="Google Shape;253;g39fa84ddee4_0_142"/>
          <p:cNvCxnSpPr/>
          <p:nvPr/>
        </p:nvCxnSpPr>
        <p:spPr>
          <a:xfrm>
            <a:off x="285750" y="1358362"/>
            <a:ext cx="8531100" cy="0"/>
          </a:xfrm>
          <a:prstGeom prst="straightConnector1">
            <a:avLst/>
          </a:prstGeom>
          <a:noFill/>
          <a:ln cap="flat" cmpd="sng" w="28575">
            <a:solidFill>
              <a:srgbClr val="799E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" name="Google Shape;254;g39fa84ddee4_0_142"/>
          <p:cNvSpPr/>
          <p:nvPr/>
        </p:nvSpPr>
        <p:spPr>
          <a:xfrm>
            <a:off x="514025" y="1506044"/>
            <a:ext cx="8236200" cy="14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050"/>
              <a:buFont typeface="Arial"/>
              <a:buNone/>
            </a:pPr>
            <a:r>
              <a:rPr b="1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Problem:</a:t>
            </a:r>
            <a:r>
              <a:rPr b="0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 Claude </a:t>
            </a:r>
            <a:r>
              <a:rPr lang="en-US" sz="1600">
                <a:solidFill>
                  <a:srgbClr val="808183"/>
                </a:solidFill>
              </a:rPr>
              <a:t>would allow an SQLi vulnerability that would allow to modify the challenge and make it unusable</a:t>
            </a:r>
            <a:endParaRPr sz="1600">
              <a:solidFill>
                <a:srgbClr val="808183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050"/>
              <a:buFont typeface="Arial"/>
              <a:buNone/>
            </a:pPr>
            <a:r>
              <a:rPr b="1" lang="en-US" sz="1600">
                <a:solidFill>
                  <a:srgbClr val="808183"/>
                </a:solidFill>
              </a:rPr>
              <a:t>Solution:</a:t>
            </a:r>
            <a:r>
              <a:rPr lang="en-US" sz="1600">
                <a:solidFill>
                  <a:srgbClr val="808183"/>
                </a:solidFill>
              </a:rPr>
              <a:t> Had to </a:t>
            </a:r>
            <a:r>
              <a:rPr lang="en-US" sz="1600">
                <a:solidFill>
                  <a:srgbClr val="808183"/>
                </a:solidFill>
              </a:rPr>
              <a:t>explicitly</a:t>
            </a:r>
            <a:r>
              <a:rPr lang="en-US" sz="1600">
                <a:solidFill>
                  <a:srgbClr val="808183"/>
                </a:solidFill>
              </a:rPr>
              <a:t> ask Claude to debug the code for potential SLQi and prevent any action other than SELECT</a:t>
            </a:r>
            <a:endParaRPr sz="1600">
              <a:solidFill>
                <a:srgbClr val="808183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A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9fa84ddee4_0_118"/>
          <p:cNvSpPr/>
          <p:nvPr/>
        </p:nvSpPr>
        <p:spPr>
          <a:xfrm>
            <a:off x="285750" y="285750"/>
            <a:ext cx="5226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46484B"/>
                </a:solidFill>
                <a:latin typeface="Arial"/>
                <a:ea typeface="Arial"/>
                <a:cs typeface="Arial"/>
                <a:sym typeface="Arial"/>
              </a:rPr>
              <a:t>Claude Code Frustrations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9fa84ddee4_0_118"/>
          <p:cNvSpPr/>
          <p:nvPr/>
        </p:nvSpPr>
        <p:spPr>
          <a:xfrm>
            <a:off x="285760" y="878475"/>
            <a:ext cx="22443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95"/>
              </a:lnSpc>
              <a:spcBef>
                <a:spcPts val="0"/>
              </a:spcBef>
              <a:spcAft>
                <a:spcPts val="0"/>
              </a:spcAft>
              <a:buClr>
                <a:srgbClr val="799ED3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799ED3"/>
                </a:solidFill>
                <a:latin typeface="Arial"/>
                <a:ea typeface="Arial"/>
                <a:cs typeface="Arial"/>
                <a:sym typeface="Arial"/>
              </a:rPr>
              <a:t>Lessons Learned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39fa84ddee4_0_118"/>
          <p:cNvSpPr/>
          <p:nvPr/>
        </p:nvSpPr>
        <p:spPr>
          <a:xfrm>
            <a:off x="285750" y="1327200"/>
            <a:ext cx="4156500" cy="26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noAutofit/>
          </a:bodyPr>
          <a:lstStyle/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●"/>
            </a:pPr>
            <a:r>
              <a:rPr i="0" lang="en-US" sz="1600" u="none" cap="none" strike="noStrike">
                <a:solidFill>
                  <a:srgbClr val="808183"/>
                </a:solidFill>
              </a:rPr>
              <a:t>Be explicit about security requirements</a:t>
            </a:r>
            <a:endParaRPr i="0" sz="1600" u="none" cap="none" strike="noStrike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●"/>
            </a:pPr>
            <a:r>
              <a:rPr i="0" lang="en-US" sz="1600" u="none" cap="none" strike="noStrike">
                <a:solidFill>
                  <a:srgbClr val="808183"/>
                </a:solidFill>
              </a:rPr>
              <a:t>Define file structure early</a:t>
            </a:r>
            <a:endParaRPr i="0" sz="1600" u="none" cap="none" strike="noStrike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●"/>
            </a:pPr>
            <a:r>
              <a:rPr i="0" lang="en-US" sz="1600" u="none" cap="none" strike="noStrike">
                <a:solidFill>
                  <a:srgbClr val="808183"/>
                </a:solidFill>
              </a:rPr>
              <a:t>Review generated code carefully</a:t>
            </a:r>
            <a:endParaRPr i="0" sz="1600" u="none" cap="none" strike="noStrike">
              <a:solidFill>
                <a:srgbClr val="808183"/>
              </a:solidFill>
            </a:endParaRPr>
          </a:p>
          <a:p>
            <a:pPr indent="-330200" lvl="1" marL="9144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○"/>
            </a:pPr>
            <a:r>
              <a:rPr lang="en-US" sz="1600">
                <a:solidFill>
                  <a:srgbClr val="808183"/>
                </a:solidFill>
              </a:rPr>
              <a:t>This is hard</a:t>
            </a:r>
            <a:endParaRPr sz="1600">
              <a:solidFill>
                <a:srgbClr val="808183"/>
              </a:solidFill>
            </a:endParaRPr>
          </a:p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●"/>
            </a:pPr>
            <a:r>
              <a:rPr i="0" lang="en-US" sz="1600" u="none" cap="none" strike="noStrike">
                <a:solidFill>
                  <a:srgbClr val="808183"/>
                </a:solidFill>
              </a:rPr>
              <a:t>Use environment variables for secrets</a:t>
            </a:r>
            <a:endParaRPr i="0" sz="1600" u="none" cap="none" strike="noStrike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●"/>
            </a:pPr>
            <a:r>
              <a:rPr i="0" lang="en-US" sz="1600" u="none" cap="none" strike="noStrike">
                <a:solidFill>
                  <a:srgbClr val="808183"/>
                </a:solidFill>
              </a:rPr>
              <a:t>Test in </a:t>
            </a:r>
            <a:r>
              <a:rPr lang="en-US" sz="1600">
                <a:solidFill>
                  <a:srgbClr val="808183"/>
                </a:solidFill>
              </a:rPr>
              <a:t>before releasing to production</a:t>
            </a:r>
            <a:endParaRPr sz="1600">
              <a:solidFill>
                <a:srgbClr val="808183"/>
              </a:solidFill>
            </a:endParaRPr>
          </a:p>
          <a:p>
            <a:pPr indent="-330200" lvl="1" marL="9144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○"/>
            </a:pPr>
            <a:r>
              <a:rPr lang="en-US" sz="1600">
                <a:solidFill>
                  <a:srgbClr val="808183"/>
                </a:solidFill>
              </a:rPr>
              <a:t>This is hard</a:t>
            </a:r>
            <a:endParaRPr sz="1600">
              <a:solidFill>
                <a:srgbClr val="808183"/>
              </a:solidFill>
            </a:endParaRPr>
          </a:p>
        </p:txBody>
      </p:sp>
      <p:sp>
        <p:nvSpPr>
          <p:cNvPr id="263" name="Google Shape;263;g39fa84ddee4_0_118"/>
          <p:cNvSpPr/>
          <p:nvPr/>
        </p:nvSpPr>
        <p:spPr>
          <a:xfrm>
            <a:off x="4845950" y="878475"/>
            <a:ext cx="3996300" cy="1549200"/>
          </a:xfrm>
          <a:prstGeom prst="roundRect">
            <a:avLst>
              <a:gd fmla="val 5660" name="adj"/>
            </a:avLst>
          </a:prstGeom>
          <a:solidFill>
            <a:srgbClr val="799E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9fa84ddee4_0_118"/>
          <p:cNvSpPr/>
          <p:nvPr/>
        </p:nvSpPr>
        <p:spPr>
          <a:xfrm>
            <a:off x="4998360" y="1030867"/>
            <a:ext cx="3077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</a:rPr>
              <a:t>Key Takeaway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265" name="Google Shape;265;g39fa84ddee4_0_118"/>
          <p:cNvSpPr/>
          <p:nvPr/>
        </p:nvSpPr>
        <p:spPr>
          <a:xfrm>
            <a:off x="4998350" y="1335675"/>
            <a:ext cx="3531900" cy="10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Claude is a powerful assistant, but you're still the security architect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A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"/>
          <p:cNvSpPr/>
          <p:nvPr/>
        </p:nvSpPr>
        <p:spPr>
          <a:xfrm>
            <a:off x="285750" y="285750"/>
            <a:ext cx="4896612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46484B"/>
                </a:solidFill>
                <a:latin typeface="Arial"/>
                <a:ea typeface="Arial"/>
                <a:cs typeface="Arial"/>
                <a:sym typeface="Arial"/>
              </a:rPr>
              <a:t>The Missed Opportunity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285750" y="895350"/>
            <a:ext cx="3789045" cy="2963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95"/>
              </a:lnSpc>
              <a:spcBef>
                <a:spcPts val="0"/>
              </a:spcBef>
              <a:spcAft>
                <a:spcPts val="0"/>
              </a:spcAft>
              <a:buClr>
                <a:srgbClr val="799ED3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799ED3"/>
                </a:solidFill>
                <a:latin typeface="Arial"/>
                <a:ea typeface="Arial"/>
                <a:cs typeface="Arial"/>
                <a:sym typeface="Arial"/>
              </a:rPr>
              <a:t>Agentic </a:t>
            </a:r>
            <a:r>
              <a:rPr b="1" lang="en-US" sz="2100">
                <a:solidFill>
                  <a:srgbClr val="799ED3"/>
                </a:solidFill>
              </a:rPr>
              <a:t>Workflow</a:t>
            </a:r>
            <a:r>
              <a:rPr b="1" i="0" lang="en-US" sz="2100" u="none" cap="none" strike="noStrike">
                <a:solidFill>
                  <a:srgbClr val="799ED3"/>
                </a:solidFill>
                <a:latin typeface="Arial"/>
                <a:ea typeface="Arial"/>
                <a:cs typeface="Arial"/>
                <a:sym typeface="Arial"/>
              </a:rPr>
              <a:t> (Not Used)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285750" y="1344077"/>
            <a:ext cx="4134000" cy="1968600"/>
          </a:xfrm>
          <a:prstGeom prst="rect">
            <a:avLst/>
          </a:prstGeom>
          <a:solidFill>
            <a:srgbClr val="F0F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4" name="Google Shape;274;p12"/>
          <p:cNvCxnSpPr/>
          <p:nvPr/>
        </p:nvCxnSpPr>
        <p:spPr>
          <a:xfrm>
            <a:off x="304800" y="1344077"/>
            <a:ext cx="0" cy="1968600"/>
          </a:xfrm>
          <a:prstGeom prst="straightConnector1">
            <a:avLst/>
          </a:prstGeom>
          <a:noFill/>
          <a:ln cap="flat" cmpd="sng" w="38100">
            <a:solidFill>
              <a:srgbClr val="799E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5" name="Google Shape;275;p12"/>
          <p:cNvSpPr/>
          <p:nvPr/>
        </p:nvSpPr>
        <p:spPr>
          <a:xfrm>
            <a:off x="476250" y="1496467"/>
            <a:ext cx="386676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1500"/>
              <a:buFont typeface="Arial"/>
              <a:buNone/>
            </a:pPr>
            <a:r>
              <a:rPr b="1" i="0" lang="en-US" sz="1600" u="none" cap="none" strike="noStrike">
                <a:solidFill>
                  <a:srgbClr val="46484B"/>
                </a:solidFill>
              </a:rPr>
              <a:t>The Vision: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476250" y="1820317"/>
            <a:ext cx="379095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350"/>
              <a:buFont typeface="Arial"/>
              <a:buNone/>
            </a:pPr>
            <a:r>
              <a:rPr b="1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Claude Agent 1:</a:t>
            </a:r>
            <a:r>
              <a:rPr b="0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 Creates CTF challenge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350"/>
              <a:buFont typeface="Arial"/>
              <a:buNone/>
            </a:pPr>
            <a:r>
              <a:rPr b="1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Claude Agent 2:</a:t>
            </a:r>
            <a:r>
              <a:rPr b="0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 Attempts to solve it (in addition to test cases)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350"/>
              <a:buFont typeface="Arial"/>
              <a:buNone/>
            </a:pPr>
            <a:r>
              <a:rPr b="1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Iterate:</a:t>
            </a:r>
            <a:r>
              <a:rPr b="0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 Refine based on solver feedback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5039825" y="1344067"/>
            <a:ext cx="421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1500"/>
              <a:buFont typeface="Arial"/>
              <a:buNone/>
            </a:pPr>
            <a:r>
              <a:rPr b="1" i="0" lang="en-US" sz="1600" u="none" cap="none" strike="noStrike">
                <a:solidFill>
                  <a:srgbClr val="46484B"/>
                </a:solidFill>
                <a:latin typeface="Arial"/>
                <a:ea typeface="Arial"/>
                <a:cs typeface="Arial"/>
                <a:sym typeface="Arial"/>
              </a:rPr>
              <a:t>Benefits: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5039825" y="1648867"/>
            <a:ext cx="41340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noAutofit/>
          </a:bodyPr>
          <a:lstStyle/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●"/>
            </a:pPr>
            <a:r>
              <a:rPr i="0" lang="en-US" sz="1600" u="none" cap="none" strike="noStrike">
                <a:solidFill>
                  <a:srgbClr val="808183"/>
                </a:solidFill>
              </a:rPr>
              <a:t>Automatic difficulty validation</a:t>
            </a:r>
            <a:endParaRPr i="0" sz="1600" u="none" cap="none" strike="noStrike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●"/>
            </a:pPr>
            <a:r>
              <a:rPr i="0" lang="en-US" sz="1600" u="none" cap="none" strike="noStrike">
                <a:solidFill>
                  <a:srgbClr val="808183"/>
                </a:solidFill>
              </a:rPr>
              <a:t>Discover unintended solutions</a:t>
            </a:r>
            <a:endParaRPr i="0" sz="1600" u="none" cap="none" strike="noStrike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●"/>
            </a:pPr>
            <a:r>
              <a:rPr i="0" lang="en-US" sz="1600" u="none" cap="none" strike="noStrike">
                <a:solidFill>
                  <a:srgbClr val="808183"/>
                </a:solidFill>
              </a:rPr>
              <a:t>Faster iteration cycles</a:t>
            </a:r>
            <a:endParaRPr i="0" sz="1600" u="none" cap="none" strike="noStrike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●"/>
            </a:pPr>
            <a:r>
              <a:rPr i="0" lang="en-US" sz="1600" u="none" cap="none" strike="noStrike">
                <a:solidFill>
                  <a:srgbClr val="808183"/>
                </a:solidFill>
              </a:rPr>
              <a:t>More robust challenges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5049350" y="3395067"/>
            <a:ext cx="421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1500"/>
              <a:buFont typeface="Arial"/>
              <a:buNone/>
            </a:pPr>
            <a:r>
              <a:rPr b="1" lang="en-US" sz="1600">
                <a:solidFill>
                  <a:srgbClr val="46484B"/>
                </a:solidFill>
              </a:rPr>
              <a:t>Drawback</a:t>
            </a:r>
            <a:r>
              <a:rPr b="1" i="0" lang="en-US" sz="1600" u="none" cap="none" strike="noStrike">
                <a:solidFill>
                  <a:srgbClr val="46484B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5030300" y="3699867"/>
            <a:ext cx="41340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noAutofit/>
          </a:bodyPr>
          <a:lstStyle/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●"/>
            </a:pPr>
            <a:r>
              <a:rPr lang="en-US" sz="1600">
                <a:solidFill>
                  <a:srgbClr val="808183"/>
                </a:solidFill>
              </a:rPr>
              <a:t>More expensive</a:t>
            </a:r>
            <a:endParaRPr i="0" sz="1600" u="none" cap="none" strike="noStrike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●"/>
            </a:pPr>
            <a:r>
              <a:rPr lang="en-US" sz="1600">
                <a:solidFill>
                  <a:srgbClr val="808183"/>
                </a:solidFill>
              </a:rPr>
              <a:t>Takes more time due to Claude usage and time limits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A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9fa84ddee4_0_192"/>
          <p:cNvSpPr/>
          <p:nvPr/>
        </p:nvSpPr>
        <p:spPr>
          <a:xfrm>
            <a:off x="285750" y="285750"/>
            <a:ext cx="4896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46484B"/>
                </a:solidFill>
                <a:latin typeface="Arial"/>
                <a:ea typeface="Arial"/>
                <a:cs typeface="Arial"/>
                <a:sym typeface="Arial"/>
              </a:rPr>
              <a:t>The Missed Opportunity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9fa84ddee4_0_192"/>
          <p:cNvSpPr/>
          <p:nvPr/>
        </p:nvSpPr>
        <p:spPr>
          <a:xfrm>
            <a:off x="285750" y="895350"/>
            <a:ext cx="22443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95"/>
              </a:lnSpc>
              <a:spcBef>
                <a:spcPts val="0"/>
              </a:spcBef>
              <a:spcAft>
                <a:spcPts val="0"/>
              </a:spcAft>
              <a:buClr>
                <a:srgbClr val="799ED3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799ED3"/>
                </a:solidFill>
                <a:latin typeface="Arial"/>
                <a:ea typeface="Arial"/>
                <a:cs typeface="Arial"/>
                <a:sym typeface="Arial"/>
              </a:rPr>
              <a:t>Why I Didn't Do It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9fa84ddee4_0_192"/>
          <p:cNvSpPr/>
          <p:nvPr/>
        </p:nvSpPr>
        <p:spPr>
          <a:xfrm>
            <a:off x="285750" y="1344067"/>
            <a:ext cx="41340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noAutofit/>
          </a:bodyPr>
          <a:lstStyle/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Font typeface="Arial"/>
              <a:buChar char="●"/>
            </a:pPr>
            <a:r>
              <a:rPr lang="en-US" sz="1600">
                <a:solidFill>
                  <a:srgbClr val="808183"/>
                </a:solidFill>
              </a:rPr>
              <a:t>I did not have the </a:t>
            </a:r>
            <a:r>
              <a:rPr lang="en-US" sz="1600">
                <a:solidFill>
                  <a:srgbClr val="808183"/>
                </a:solidFill>
              </a:rPr>
              <a:t>knowledge</a:t>
            </a:r>
            <a:endParaRPr sz="1600">
              <a:solidFill>
                <a:srgbClr val="808183"/>
              </a:solidFill>
            </a:endParaRPr>
          </a:p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Time constraints (</a:t>
            </a:r>
            <a:r>
              <a:rPr lang="en-US" sz="1600">
                <a:solidFill>
                  <a:srgbClr val="808183"/>
                </a:solidFill>
              </a:rPr>
              <a:t>f</a:t>
            </a:r>
            <a:r>
              <a:rPr lang="en-US" sz="1600">
                <a:solidFill>
                  <a:srgbClr val="808183"/>
                </a:solidFill>
              </a:rPr>
              <a:t>ocused on shipping challenges</a:t>
            </a:r>
            <a:r>
              <a:rPr b="0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Didn't think of it until after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Would require orchestration layer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9fa84ddee4_0_192"/>
          <p:cNvSpPr/>
          <p:nvPr/>
        </p:nvSpPr>
        <p:spPr>
          <a:xfrm>
            <a:off x="4508775" y="1344080"/>
            <a:ext cx="4134000" cy="1547100"/>
          </a:xfrm>
          <a:prstGeom prst="roundRect">
            <a:avLst>
              <a:gd fmla="val 8081" name="adj"/>
            </a:avLst>
          </a:prstGeom>
          <a:solidFill>
            <a:srgbClr val="799E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39fa84ddee4_0_192"/>
          <p:cNvSpPr/>
          <p:nvPr/>
        </p:nvSpPr>
        <p:spPr>
          <a:xfrm>
            <a:off x="4642316" y="1515517"/>
            <a:ext cx="3866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</a:rPr>
              <a:t>Future Project?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291" name="Google Shape;291;g39fa84ddee4_0_192"/>
          <p:cNvSpPr/>
          <p:nvPr/>
        </p:nvSpPr>
        <p:spPr>
          <a:xfrm>
            <a:off x="4642325" y="1915597"/>
            <a:ext cx="3866700" cy="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i="0" lang="en-US" sz="1600" u="none" cap="none" strike="noStrike">
                <a:solidFill>
                  <a:srgbClr val="FFFFFF"/>
                </a:solidFill>
              </a:rPr>
              <a:t>Build an agentic CTF challenge creation &amp; testing system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A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9fa84ddee4_0_348"/>
          <p:cNvSpPr/>
          <p:nvPr/>
        </p:nvSpPr>
        <p:spPr>
          <a:xfrm>
            <a:off x="285750" y="285750"/>
            <a:ext cx="8320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46484B"/>
                </a:solidFill>
              </a:rPr>
              <a:t>Solving Challenges with Claude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39fa84ddee4_0_348"/>
          <p:cNvSpPr/>
          <p:nvPr/>
        </p:nvSpPr>
        <p:spPr>
          <a:xfrm>
            <a:off x="285750" y="895350"/>
            <a:ext cx="4134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95"/>
              </a:lnSpc>
              <a:spcBef>
                <a:spcPts val="0"/>
              </a:spcBef>
              <a:spcAft>
                <a:spcPts val="0"/>
              </a:spcAft>
              <a:buClr>
                <a:srgbClr val="799ED3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799ED3"/>
                </a:solidFill>
              </a:rPr>
              <a:t>I am aware of three techniques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9fa84ddee4_0_348"/>
          <p:cNvSpPr/>
          <p:nvPr/>
        </p:nvSpPr>
        <p:spPr>
          <a:xfrm>
            <a:off x="285750" y="1344075"/>
            <a:ext cx="83205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noAutofit/>
          </a:bodyPr>
          <a:lstStyle/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Font typeface="Arial"/>
              <a:buChar char="●"/>
            </a:pPr>
            <a:r>
              <a:rPr lang="en-US" sz="1600">
                <a:solidFill>
                  <a:srgbClr val="808183"/>
                </a:solidFill>
              </a:rPr>
              <a:t>Using Claude chat</a:t>
            </a:r>
            <a:endParaRPr sz="1600">
              <a:solidFill>
                <a:srgbClr val="808183"/>
              </a:solidFill>
            </a:endParaRPr>
          </a:p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●"/>
            </a:pPr>
            <a:r>
              <a:rPr lang="en-US" sz="1600">
                <a:solidFill>
                  <a:srgbClr val="808183"/>
                </a:solidFill>
              </a:rPr>
              <a:t>Using MPC servers</a:t>
            </a:r>
            <a:endParaRPr sz="1600">
              <a:solidFill>
                <a:srgbClr val="808183"/>
              </a:solidFill>
            </a:endParaRPr>
          </a:p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●"/>
            </a:pPr>
            <a:r>
              <a:rPr lang="en-US" sz="1600">
                <a:solidFill>
                  <a:srgbClr val="808183"/>
                </a:solidFill>
              </a:rPr>
              <a:t>Using agents (it can get expensive, consider local LLMs)</a:t>
            </a:r>
            <a:endParaRPr sz="1600">
              <a:solidFill>
                <a:srgbClr val="808183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9fa84ddee4_0_358"/>
          <p:cNvSpPr/>
          <p:nvPr/>
        </p:nvSpPr>
        <p:spPr>
          <a:xfrm>
            <a:off x="847950" y="1890750"/>
            <a:ext cx="74481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4200"/>
              <a:buFont typeface="Arial"/>
              <a:buNone/>
            </a:pPr>
            <a:r>
              <a:rPr b="1" lang="en-US" sz="4200">
                <a:solidFill>
                  <a:srgbClr val="46484B"/>
                </a:solidFill>
              </a:rPr>
              <a:t>Demo Solving Challenges</a:t>
            </a:r>
            <a:endParaRPr b="0" i="0" sz="4200" u="none" cap="none" strike="noStrike">
              <a:solidFill>
                <a:srgbClr val="799ED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A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3"/>
          <p:cNvSpPr/>
          <p:nvPr/>
        </p:nvSpPr>
        <p:spPr>
          <a:xfrm>
            <a:off x="285750" y="285750"/>
            <a:ext cx="4420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46484B"/>
                </a:solidFill>
                <a:latin typeface="Arial"/>
                <a:ea typeface="Arial"/>
                <a:cs typeface="Arial"/>
                <a:sym typeface="Arial"/>
              </a:rPr>
              <a:t>Key Lessons Learned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285750" y="845112"/>
            <a:ext cx="27882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28"/>
              </a:lnSpc>
              <a:spcBef>
                <a:spcPts val="0"/>
              </a:spcBef>
              <a:spcAft>
                <a:spcPts val="0"/>
              </a:spcAft>
              <a:buClr>
                <a:srgbClr val="799ED3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799ED3"/>
                </a:solidFill>
                <a:latin typeface="Arial"/>
                <a:ea typeface="Arial"/>
                <a:cs typeface="Arial"/>
                <a:sym typeface="Arial"/>
              </a:rPr>
              <a:t>Development Workflow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285750" y="1177624"/>
            <a:ext cx="8404800" cy="721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000000">
                <a:alpha val="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4" name="Google Shape;314;p13"/>
          <p:cNvCxnSpPr/>
          <p:nvPr/>
        </p:nvCxnSpPr>
        <p:spPr>
          <a:xfrm>
            <a:off x="285750" y="1191912"/>
            <a:ext cx="8404800" cy="0"/>
          </a:xfrm>
          <a:prstGeom prst="straightConnector1">
            <a:avLst/>
          </a:prstGeom>
          <a:noFill/>
          <a:ln cap="flat" cmpd="sng" w="28575">
            <a:solidFill>
              <a:srgbClr val="799E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" name="Google Shape;315;p13"/>
          <p:cNvSpPr/>
          <p:nvPr/>
        </p:nvSpPr>
        <p:spPr>
          <a:xfrm>
            <a:off x="419100" y="1339558"/>
            <a:ext cx="39639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46484B"/>
                </a:solidFill>
              </a:rPr>
              <a:t>1. </a:t>
            </a:r>
            <a:r>
              <a:rPr b="1" lang="en-US" sz="1600">
                <a:solidFill>
                  <a:srgbClr val="46484B"/>
                </a:solidFill>
              </a:rPr>
              <a:t>Ideation with Claude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419100" y="1579469"/>
            <a:ext cx="39639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050"/>
              <a:buFont typeface="Arial"/>
              <a:buNone/>
            </a:pPr>
            <a:r>
              <a:rPr lang="en-US" sz="1600">
                <a:solidFill>
                  <a:srgbClr val="808183"/>
                </a:solidFill>
              </a:rPr>
              <a:t>Use Claude to bounce ideas before coding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285750" y="3520053"/>
            <a:ext cx="8404800" cy="721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000000">
                <a:alpha val="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8" name="Google Shape;318;p13"/>
          <p:cNvCxnSpPr/>
          <p:nvPr/>
        </p:nvCxnSpPr>
        <p:spPr>
          <a:xfrm>
            <a:off x="285750" y="3534340"/>
            <a:ext cx="8404800" cy="0"/>
          </a:xfrm>
          <a:prstGeom prst="straightConnector1">
            <a:avLst/>
          </a:prstGeom>
          <a:noFill/>
          <a:ln cap="flat" cmpd="sng" w="28575">
            <a:solidFill>
              <a:srgbClr val="799E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p13"/>
          <p:cNvSpPr/>
          <p:nvPr/>
        </p:nvSpPr>
        <p:spPr>
          <a:xfrm>
            <a:off x="419100" y="3681985"/>
            <a:ext cx="39639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1200"/>
              <a:buFont typeface="Arial"/>
              <a:buNone/>
            </a:pPr>
            <a:r>
              <a:rPr b="1" lang="en-US" sz="1600">
                <a:solidFill>
                  <a:srgbClr val="46484B"/>
                </a:solidFill>
              </a:rPr>
              <a:t>4</a:t>
            </a:r>
            <a:r>
              <a:rPr b="1" i="0" lang="en-US" sz="1600" u="none" cap="none" strike="noStrike">
                <a:solidFill>
                  <a:srgbClr val="46484B"/>
                </a:solidFill>
              </a:rPr>
              <a:t>. </a:t>
            </a:r>
            <a:r>
              <a:rPr b="1" lang="en-US" sz="1600">
                <a:solidFill>
                  <a:srgbClr val="46484B"/>
                </a:solidFill>
              </a:rPr>
              <a:t>Clear Requirements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419100" y="3925784"/>
            <a:ext cx="80016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050"/>
              <a:buFont typeface="Arial"/>
              <a:buNone/>
            </a:pPr>
            <a:r>
              <a:rPr lang="en-US" sz="1600">
                <a:solidFill>
                  <a:srgbClr val="808183"/>
                </a:solidFill>
              </a:rPr>
              <a:t>Detailed prompts → better results</a:t>
            </a:r>
            <a:endParaRPr sz="1600">
              <a:solidFill>
                <a:srgbClr val="808183"/>
              </a:solidFill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285750" y="4300855"/>
            <a:ext cx="8404800" cy="721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000000">
                <a:alpha val="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2" name="Google Shape;322;p13"/>
          <p:cNvCxnSpPr/>
          <p:nvPr/>
        </p:nvCxnSpPr>
        <p:spPr>
          <a:xfrm>
            <a:off x="285750" y="4315143"/>
            <a:ext cx="8404800" cy="0"/>
          </a:xfrm>
          <a:prstGeom prst="straightConnector1">
            <a:avLst/>
          </a:prstGeom>
          <a:noFill/>
          <a:ln cap="flat" cmpd="sng" w="28575">
            <a:solidFill>
              <a:srgbClr val="799E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3" name="Google Shape;323;p13"/>
          <p:cNvSpPr/>
          <p:nvPr/>
        </p:nvSpPr>
        <p:spPr>
          <a:xfrm>
            <a:off x="419100" y="4462784"/>
            <a:ext cx="39639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1200"/>
              <a:buFont typeface="Arial"/>
              <a:buNone/>
            </a:pPr>
            <a:r>
              <a:rPr b="1" lang="en-US" sz="1600">
                <a:solidFill>
                  <a:srgbClr val="46484B"/>
                </a:solidFill>
              </a:rPr>
              <a:t>5</a:t>
            </a:r>
            <a:r>
              <a:rPr b="1" i="0" lang="en-US" sz="1600" u="none" cap="none" strike="noStrike">
                <a:solidFill>
                  <a:srgbClr val="46484B"/>
                </a:solidFill>
                <a:latin typeface="Arial"/>
                <a:ea typeface="Arial"/>
                <a:cs typeface="Arial"/>
                <a:sym typeface="Arial"/>
              </a:rPr>
              <a:t>. Be Security-Conscious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419100" y="4706567"/>
            <a:ext cx="80016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050"/>
              <a:buFont typeface="Arial"/>
              <a:buNone/>
            </a:pPr>
            <a:r>
              <a:rPr b="0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Explicitly state security and challenge requirements</a:t>
            </a:r>
            <a:r>
              <a:rPr lang="en-US" sz="1600">
                <a:solidFill>
                  <a:srgbClr val="808183"/>
                </a:solidFill>
              </a:rPr>
              <a:t> (don’t reveal the flag or the steps)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285750" y="2739245"/>
            <a:ext cx="8404800" cy="721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000000">
                <a:alpha val="98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6" name="Google Shape;326;p13"/>
          <p:cNvCxnSpPr/>
          <p:nvPr/>
        </p:nvCxnSpPr>
        <p:spPr>
          <a:xfrm>
            <a:off x="285750" y="2753532"/>
            <a:ext cx="8404800" cy="0"/>
          </a:xfrm>
          <a:prstGeom prst="straightConnector1">
            <a:avLst/>
          </a:prstGeom>
          <a:noFill/>
          <a:ln cap="flat" cmpd="sng" w="28575">
            <a:solidFill>
              <a:srgbClr val="799E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7" name="Google Shape;327;p13"/>
          <p:cNvSpPr/>
          <p:nvPr/>
        </p:nvSpPr>
        <p:spPr>
          <a:xfrm>
            <a:off x="419100" y="2901172"/>
            <a:ext cx="39639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1200"/>
              <a:buFont typeface="Arial"/>
              <a:buNone/>
            </a:pPr>
            <a:r>
              <a:rPr b="1" lang="en-US" sz="1600">
                <a:solidFill>
                  <a:srgbClr val="46484B"/>
                </a:solidFill>
              </a:rPr>
              <a:t>3</a:t>
            </a:r>
            <a:r>
              <a:rPr b="1" lang="en-US" sz="1600">
                <a:solidFill>
                  <a:srgbClr val="46484B"/>
                </a:solidFill>
              </a:rPr>
              <a:t>. Use Prompt Engineering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419100" y="3141088"/>
            <a:ext cx="80016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050"/>
              <a:buFont typeface="Arial"/>
              <a:buNone/>
            </a:pPr>
            <a:r>
              <a:rPr lang="en-US" sz="1600">
                <a:solidFill>
                  <a:srgbClr val="808183"/>
                </a:solidFill>
              </a:rPr>
              <a:t>Start with a prompt for generating CLAUDE.md and the first coding prompt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285750" y="1958436"/>
            <a:ext cx="8404800" cy="721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000000">
                <a:alpha val="98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0" name="Google Shape;330;p13"/>
          <p:cNvCxnSpPr/>
          <p:nvPr/>
        </p:nvCxnSpPr>
        <p:spPr>
          <a:xfrm>
            <a:off x="285750" y="1972723"/>
            <a:ext cx="8404800" cy="0"/>
          </a:xfrm>
          <a:prstGeom prst="straightConnector1">
            <a:avLst/>
          </a:prstGeom>
          <a:noFill/>
          <a:ln cap="flat" cmpd="sng" w="28575">
            <a:solidFill>
              <a:srgbClr val="799E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" name="Google Shape;331;p13"/>
          <p:cNvSpPr/>
          <p:nvPr/>
        </p:nvSpPr>
        <p:spPr>
          <a:xfrm>
            <a:off x="419100" y="2120363"/>
            <a:ext cx="39639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1200"/>
              <a:buFont typeface="Arial"/>
              <a:buNone/>
            </a:pPr>
            <a:r>
              <a:rPr b="1" lang="en-US" sz="1600">
                <a:solidFill>
                  <a:srgbClr val="46484B"/>
                </a:solidFill>
              </a:rPr>
              <a:t>2. Have Infrastructure Harness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419100" y="2360279"/>
            <a:ext cx="80016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050"/>
              <a:buFont typeface="Arial"/>
              <a:buNone/>
            </a:pPr>
            <a:r>
              <a:rPr lang="en-US" sz="1600">
                <a:solidFill>
                  <a:srgbClr val="808183"/>
                </a:solidFill>
              </a:rPr>
              <a:t>Have all the docker config files (nginx, letsencrypt, etc.) ready before each project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A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9fa84ddee4_0_363"/>
          <p:cNvSpPr/>
          <p:nvPr/>
        </p:nvSpPr>
        <p:spPr>
          <a:xfrm>
            <a:off x="285750" y="285750"/>
            <a:ext cx="4420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46484B"/>
                </a:solidFill>
                <a:latin typeface="Arial"/>
                <a:ea typeface="Arial"/>
                <a:cs typeface="Arial"/>
                <a:sym typeface="Arial"/>
              </a:rPr>
              <a:t>Key Lessons Learned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g39fa84ddee4_0_363"/>
          <p:cNvSpPr/>
          <p:nvPr/>
        </p:nvSpPr>
        <p:spPr>
          <a:xfrm>
            <a:off x="285750" y="895350"/>
            <a:ext cx="82698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95"/>
              </a:lnSpc>
              <a:spcBef>
                <a:spcPts val="0"/>
              </a:spcBef>
              <a:spcAft>
                <a:spcPts val="0"/>
              </a:spcAft>
              <a:buClr>
                <a:srgbClr val="799ED3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799ED3"/>
                </a:solidFill>
              </a:rPr>
              <a:t>Developing and Solving Using Agents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9fa84ddee4_0_363"/>
          <p:cNvSpPr/>
          <p:nvPr/>
        </p:nvSpPr>
        <p:spPr>
          <a:xfrm>
            <a:off x="285750" y="1344077"/>
            <a:ext cx="4134000" cy="1968600"/>
          </a:xfrm>
          <a:prstGeom prst="rect">
            <a:avLst/>
          </a:prstGeom>
          <a:solidFill>
            <a:srgbClr val="F0F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" name="Google Shape;341;g39fa84ddee4_0_363"/>
          <p:cNvCxnSpPr/>
          <p:nvPr/>
        </p:nvCxnSpPr>
        <p:spPr>
          <a:xfrm>
            <a:off x="304800" y="1344077"/>
            <a:ext cx="0" cy="1968600"/>
          </a:xfrm>
          <a:prstGeom prst="straightConnector1">
            <a:avLst/>
          </a:prstGeom>
          <a:noFill/>
          <a:ln cap="flat" cmpd="sng" w="38100">
            <a:solidFill>
              <a:srgbClr val="799E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2" name="Google Shape;342;g39fa84ddee4_0_363"/>
          <p:cNvSpPr/>
          <p:nvPr/>
        </p:nvSpPr>
        <p:spPr>
          <a:xfrm>
            <a:off x="476250" y="1496467"/>
            <a:ext cx="386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1500"/>
              <a:buFont typeface="Arial"/>
              <a:buNone/>
            </a:pPr>
            <a:r>
              <a:rPr b="1" i="0" lang="en-US" sz="1600" u="none" cap="none" strike="noStrike">
                <a:solidFill>
                  <a:srgbClr val="46484B"/>
                </a:solidFill>
              </a:rPr>
              <a:t>The Vision: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343" name="Google Shape;343;g39fa84ddee4_0_363"/>
          <p:cNvSpPr/>
          <p:nvPr/>
        </p:nvSpPr>
        <p:spPr>
          <a:xfrm>
            <a:off x="476250" y="1820317"/>
            <a:ext cx="37911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350"/>
              <a:buFont typeface="Arial"/>
              <a:buNone/>
            </a:pPr>
            <a:r>
              <a:rPr b="1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Claude Agent 1:</a:t>
            </a:r>
            <a:r>
              <a:rPr b="0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 Creates CTF challenge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350"/>
              <a:buFont typeface="Arial"/>
              <a:buNone/>
            </a:pPr>
            <a:r>
              <a:rPr b="1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Claude Agent 2:</a:t>
            </a:r>
            <a:r>
              <a:rPr b="0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 Attempts to solve it (in addition to test cases)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350"/>
              <a:buFont typeface="Arial"/>
              <a:buNone/>
            </a:pPr>
            <a:r>
              <a:rPr b="1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Iterate:</a:t>
            </a:r>
            <a:r>
              <a:rPr b="0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 Refine based on solver feedback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g39fa84ddee4_0_363"/>
          <p:cNvSpPr/>
          <p:nvPr/>
        </p:nvSpPr>
        <p:spPr>
          <a:xfrm>
            <a:off x="285750" y="3873375"/>
            <a:ext cx="4134000" cy="771000"/>
          </a:xfrm>
          <a:prstGeom prst="roundRect">
            <a:avLst>
              <a:gd fmla="val 4790" name="adj"/>
            </a:avLst>
          </a:prstGeom>
          <a:solidFill>
            <a:srgbClr val="799ED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</a:rPr>
              <a:t>This can get expensive. Local LLMs might be a good solution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g39fa84ddee4_0_363"/>
          <p:cNvSpPr/>
          <p:nvPr/>
        </p:nvSpPr>
        <p:spPr>
          <a:xfrm>
            <a:off x="285750" y="3465000"/>
            <a:ext cx="21276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28"/>
              </a:lnSpc>
              <a:spcBef>
                <a:spcPts val="0"/>
              </a:spcBef>
              <a:spcAft>
                <a:spcPts val="0"/>
              </a:spcAft>
              <a:buClr>
                <a:srgbClr val="799ED3"/>
              </a:buClr>
              <a:buSzPts val="1950"/>
              <a:buFont typeface="Arial"/>
              <a:buNone/>
            </a:pPr>
            <a:r>
              <a:rPr b="1" lang="en-US" sz="1950">
                <a:solidFill>
                  <a:srgbClr val="799ED3"/>
                </a:solidFill>
              </a:rPr>
              <a:t>Cost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A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9fa84ddee4_0_211"/>
          <p:cNvSpPr/>
          <p:nvPr/>
        </p:nvSpPr>
        <p:spPr>
          <a:xfrm>
            <a:off x="285750" y="285750"/>
            <a:ext cx="4420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46484B"/>
                </a:solidFill>
                <a:latin typeface="Arial"/>
                <a:ea typeface="Arial"/>
                <a:cs typeface="Arial"/>
                <a:sym typeface="Arial"/>
              </a:rPr>
              <a:t>Key Lessons Learned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g39fa84ddee4_0_211"/>
          <p:cNvSpPr/>
          <p:nvPr/>
        </p:nvSpPr>
        <p:spPr>
          <a:xfrm>
            <a:off x="285750" y="975125"/>
            <a:ext cx="21276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28"/>
              </a:lnSpc>
              <a:spcBef>
                <a:spcPts val="0"/>
              </a:spcBef>
              <a:spcAft>
                <a:spcPts val="0"/>
              </a:spcAft>
              <a:buClr>
                <a:srgbClr val="799ED3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799ED3"/>
                </a:solidFill>
                <a:latin typeface="Arial"/>
                <a:ea typeface="Arial"/>
                <a:cs typeface="Arial"/>
                <a:sym typeface="Arial"/>
              </a:rPr>
              <a:t>Bottleneck Shift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g39fa84ddee4_0_211"/>
          <p:cNvSpPr/>
          <p:nvPr/>
        </p:nvSpPr>
        <p:spPr>
          <a:xfrm>
            <a:off x="285750" y="1383509"/>
            <a:ext cx="4152900" cy="845700"/>
          </a:xfrm>
          <a:prstGeom prst="roundRect">
            <a:avLst>
              <a:gd fmla="val 6758" name="adj"/>
            </a:avLst>
          </a:prstGeom>
          <a:solidFill>
            <a:srgbClr val="799E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39fa84ddee4_0_211"/>
          <p:cNvSpPr/>
          <p:nvPr/>
        </p:nvSpPr>
        <p:spPr>
          <a:xfrm>
            <a:off x="457200" y="1554959"/>
            <a:ext cx="38862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Before:</a:t>
            </a: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Writing code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g39fa84ddee4_0_211"/>
          <p:cNvSpPr/>
          <p:nvPr/>
        </p:nvSpPr>
        <p:spPr>
          <a:xfrm>
            <a:off x="457200" y="1844430"/>
            <a:ext cx="38862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After:</a:t>
            </a: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Testing &amp; validating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g39fa84ddee4_0_211"/>
          <p:cNvSpPr/>
          <p:nvPr/>
        </p:nvSpPr>
        <p:spPr>
          <a:xfrm>
            <a:off x="285750" y="2400601"/>
            <a:ext cx="4236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1350"/>
              <a:buFont typeface="Arial"/>
              <a:buNone/>
            </a:pPr>
            <a:r>
              <a:rPr b="1" i="0" lang="en-US" sz="1600" u="none" cap="none" strike="noStrike">
                <a:solidFill>
                  <a:srgbClr val="46484B"/>
                </a:solidFill>
                <a:latin typeface="Arial"/>
                <a:ea typeface="Arial"/>
                <a:cs typeface="Arial"/>
                <a:sym typeface="Arial"/>
              </a:rPr>
              <a:t>The Reality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g39fa84ddee4_0_211"/>
          <p:cNvSpPr/>
          <p:nvPr/>
        </p:nvSpPr>
        <p:spPr>
          <a:xfrm>
            <a:off x="285750" y="2682481"/>
            <a:ext cx="41529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noAutofit/>
          </a:bodyPr>
          <a:lstStyle/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You're still the architect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Claude accelerates implementation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Quality depends on your prompts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Testing is still your job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rgbClr val="808183"/>
                </a:solidFill>
                <a:latin typeface="Arial"/>
                <a:ea typeface="Arial"/>
                <a:cs typeface="Arial"/>
                <a:sym typeface="Arial"/>
              </a:rPr>
              <a:t>Security review is critical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g39fa84ddee4_0_211"/>
          <p:cNvSpPr/>
          <p:nvPr/>
        </p:nvSpPr>
        <p:spPr>
          <a:xfrm>
            <a:off x="4706250" y="1383500"/>
            <a:ext cx="4134000" cy="1293900"/>
          </a:xfrm>
          <a:prstGeom prst="roundRect">
            <a:avLst>
              <a:gd fmla="val 4790" name="adj"/>
            </a:avLst>
          </a:prstGeom>
          <a:solidFill>
            <a:srgbClr val="799ED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</a:rPr>
              <a:t>Key Takeaway</a:t>
            </a:r>
            <a:endParaRPr sz="1600">
              <a:solidFill>
                <a:srgbClr val="F0F2F3"/>
              </a:solidFill>
            </a:endParaRPr>
          </a:p>
          <a:p>
            <a:pPr indent="0" lvl="0" marL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0F2F3"/>
                </a:solidFill>
              </a:rPr>
              <a:t>I should have payed for 5 months at $20/month and save $100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g39fa84ddee4_0_211"/>
          <p:cNvSpPr/>
          <p:nvPr/>
        </p:nvSpPr>
        <p:spPr>
          <a:xfrm>
            <a:off x="4706250" y="975125"/>
            <a:ext cx="21276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28"/>
              </a:lnSpc>
              <a:spcBef>
                <a:spcPts val="0"/>
              </a:spcBef>
              <a:spcAft>
                <a:spcPts val="0"/>
              </a:spcAft>
              <a:buClr>
                <a:srgbClr val="799ED3"/>
              </a:buClr>
              <a:buSzPts val="1950"/>
              <a:buFont typeface="Arial"/>
              <a:buNone/>
            </a:pPr>
            <a:r>
              <a:rPr b="1" lang="en-US" sz="1950">
                <a:solidFill>
                  <a:srgbClr val="799ED3"/>
                </a:solidFill>
              </a:rPr>
              <a:t>Cost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A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9fa84ddee4_0_304"/>
          <p:cNvSpPr/>
          <p:nvPr/>
        </p:nvSpPr>
        <p:spPr>
          <a:xfrm>
            <a:off x="285750" y="285750"/>
            <a:ext cx="4420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46484B"/>
                </a:solidFill>
              </a:rPr>
              <a:t>Resources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g39fa84ddee4_0_304"/>
          <p:cNvSpPr/>
          <p:nvPr/>
        </p:nvSpPr>
        <p:spPr>
          <a:xfrm>
            <a:off x="285750" y="1011500"/>
            <a:ext cx="41529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28"/>
              </a:lnSpc>
              <a:spcBef>
                <a:spcPts val="0"/>
              </a:spcBef>
              <a:spcAft>
                <a:spcPts val="0"/>
              </a:spcAft>
              <a:buClr>
                <a:srgbClr val="799ED3"/>
              </a:buClr>
              <a:buSzPts val="1950"/>
              <a:buFont typeface="Arial"/>
              <a:buNone/>
            </a:pPr>
            <a:r>
              <a:rPr b="1" lang="en-US" sz="1950">
                <a:solidFill>
                  <a:srgbClr val="799ED3"/>
                </a:solidFill>
              </a:rPr>
              <a:t>Local LLMs and Hardware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39fa84ddee4_0_304"/>
          <p:cNvSpPr/>
          <p:nvPr/>
        </p:nvSpPr>
        <p:spPr>
          <a:xfrm>
            <a:off x="285750" y="1323392"/>
            <a:ext cx="8649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no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Font typeface="Arial"/>
              <a:buChar char="●"/>
            </a:pPr>
            <a:r>
              <a:rPr lang="en-US" sz="1600">
                <a:solidFill>
                  <a:srgbClr val="808183"/>
                </a:solidFill>
              </a:rPr>
              <a:t>Alex Ziskind: </a:t>
            </a:r>
            <a:endParaRPr sz="1600">
              <a:solidFill>
                <a:srgbClr val="808183"/>
              </a:solidFill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Font typeface="Arial"/>
              <a:buChar char="○"/>
            </a:pPr>
            <a:r>
              <a:rPr lang="en-US" sz="1600" u="sng">
                <a:solidFill>
                  <a:schemeClr val="hlink"/>
                </a:solidFill>
                <a:hlinkClick r:id="rId3"/>
              </a:rPr>
              <a:t>https://www.youtube.com/@AZisk</a:t>
            </a:r>
            <a:r>
              <a:rPr lang="en-US" sz="1600">
                <a:solidFill>
                  <a:srgbClr val="808183"/>
                </a:solidFill>
              </a:rPr>
              <a:t>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39fa84ddee4_0_304"/>
          <p:cNvSpPr txBox="1"/>
          <p:nvPr/>
        </p:nvSpPr>
        <p:spPr>
          <a:xfrm>
            <a:off x="6836075" y="-8429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g39fa84ddee4_0_304"/>
          <p:cNvSpPr/>
          <p:nvPr/>
        </p:nvSpPr>
        <p:spPr>
          <a:xfrm>
            <a:off x="285750" y="1981066"/>
            <a:ext cx="41529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28"/>
              </a:lnSpc>
              <a:spcBef>
                <a:spcPts val="0"/>
              </a:spcBef>
              <a:spcAft>
                <a:spcPts val="0"/>
              </a:spcAft>
              <a:buClr>
                <a:srgbClr val="799ED3"/>
              </a:buClr>
              <a:buSzPts val="1950"/>
              <a:buFont typeface="Arial"/>
              <a:buNone/>
            </a:pPr>
            <a:r>
              <a:rPr b="1" lang="en-US" sz="1950">
                <a:solidFill>
                  <a:srgbClr val="799ED3"/>
                </a:solidFill>
              </a:rPr>
              <a:t>Prompt Engineering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g39fa84ddee4_0_304"/>
          <p:cNvSpPr/>
          <p:nvPr/>
        </p:nvSpPr>
        <p:spPr>
          <a:xfrm>
            <a:off x="285750" y="2292958"/>
            <a:ext cx="8649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no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Font typeface="Arial"/>
              <a:buChar char="●"/>
            </a:pPr>
            <a:r>
              <a:rPr lang="en-US" sz="1600">
                <a:solidFill>
                  <a:srgbClr val="808183"/>
                </a:solidFill>
              </a:rPr>
              <a:t>Claude Prompt Engineering:</a:t>
            </a:r>
            <a:endParaRPr sz="1600">
              <a:solidFill>
                <a:srgbClr val="808183"/>
              </a:solidFill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Font typeface="Arial"/>
              <a:buChar char="○"/>
            </a:pPr>
            <a:r>
              <a:rPr lang="en-US" sz="1600" u="sng">
                <a:solidFill>
                  <a:schemeClr val="hlink"/>
                </a:solidFill>
                <a:hlinkClick r:id="rId4"/>
              </a:rPr>
              <a:t>https://docs.claude.com/en/docs/build-with-claude/prompt-engineering/overview</a:t>
            </a:r>
            <a:r>
              <a:rPr lang="en-US" sz="1600">
                <a:solidFill>
                  <a:srgbClr val="808183"/>
                </a:solidFill>
              </a:rPr>
              <a:t> </a:t>
            </a:r>
            <a:endParaRPr sz="1600">
              <a:solidFill>
                <a:srgbClr val="808183"/>
              </a:solidFill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Font typeface="Arial"/>
              <a:buChar char="●"/>
            </a:pPr>
            <a:r>
              <a:rPr lang="en-US" sz="1600">
                <a:solidFill>
                  <a:srgbClr val="808183"/>
                </a:solidFill>
              </a:rPr>
              <a:t>Prompt Engineering Guide</a:t>
            </a:r>
            <a:r>
              <a:rPr lang="en-US" sz="1600">
                <a:solidFill>
                  <a:srgbClr val="808183"/>
                </a:solidFill>
              </a:rPr>
              <a:t>: </a:t>
            </a:r>
            <a:endParaRPr sz="1600">
              <a:solidFill>
                <a:srgbClr val="808183"/>
              </a:solidFill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Font typeface="Arial"/>
              <a:buChar char="○"/>
            </a:pPr>
            <a:r>
              <a:rPr lang="en-US" sz="1600" u="sng">
                <a:solidFill>
                  <a:schemeClr val="hlink"/>
                </a:solidFill>
                <a:hlinkClick r:id="rId5"/>
              </a:rPr>
              <a:t>https://www.promptingguide.ai/</a:t>
            </a:r>
            <a:r>
              <a:rPr lang="en-US" sz="1600">
                <a:solidFill>
                  <a:srgbClr val="808183"/>
                </a:solidFill>
              </a:rPr>
              <a:t> </a:t>
            </a:r>
            <a:endParaRPr sz="1600">
              <a:solidFill>
                <a:srgbClr val="808183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A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6fd8001d8e_0_1"/>
          <p:cNvSpPr/>
          <p:nvPr/>
        </p:nvSpPr>
        <p:spPr>
          <a:xfrm>
            <a:off x="285750" y="285750"/>
            <a:ext cx="4420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46484B"/>
                </a:solidFill>
              </a:rPr>
              <a:t>Resources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g36fd8001d8e_0_1"/>
          <p:cNvSpPr/>
          <p:nvPr/>
        </p:nvSpPr>
        <p:spPr>
          <a:xfrm>
            <a:off x="285750" y="842199"/>
            <a:ext cx="79680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28"/>
              </a:lnSpc>
              <a:spcBef>
                <a:spcPts val="0"/>
              </a:spcBef>
              <a:spcAft>
                <a:spcPts val="0"/>
              </a:spcAft>
              <a:buClr>
                <a:srgbClr val="799ED3"/>
              </a:buClr>
              <a:buSzPts val="1950"/>
              <a:buFont typeface="Arial"/>
              <a:buNone/>
            </a:pPr>
            <a:r>
              <a:rPr b="1" lang="en-US" sz="1950">
                <a:solidFill>
                  <a:srgbClr val="799ED3"/>
                </a:solidFill>
              </a:rPr>
              <a:t>Hacking with LLMs (Mike Spicer)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g36fd8001d8e_0_1"/>
          <p:cNvSpPr/>
          <p:nvPr/>
        </p:nvSpPr>
        <p:spPr>
          <a:xfrm>
            <a:off x="285750" y="1204019"/>
            <a:ext cx="8649300" cy="20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no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Font typeface="Arial"/>
              <a:buChar char="●"/>
            </a:pPr>
            <a:r>
              <a:rPr lang="en-US" sz="1600">
                <a:solidFill>
                  <a:srgbClr val="808183"/>
                </a:solidFill>
              </a:rPr>
              <a:t>BSidesSLC 2025 - Speedrun Cybersecurity with AI – Hack Faster with Mike Spicer</a:t>
            </a:r>
            <a:endParaRPr sz="1600">
              <a:solidFill>
                <a:srgbClr val="808183"/>
              </a:solidFill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○"/>
            </a:pPr>
            <a:r>
              <a:rPr lang="en-US" sz="1600" u="sng">
                <a:solidFill>
                  <a:schemeClr val="hlink"/>
                </a:solidFill>
                <a:hlinkClick r:id="rId3"/>
              </a:rPr>
              <a:t>https://youtu.be/fpfrEibkDrs?si=Eg4B57u7TpQnUOCe</a:t>
            </a:r>
            <a:endParaRPr sz="1600">
              <a:solidFill>
                <a:srgbClr val="808183"/>
              </a:solidFill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●"/>
            </a:pPr>
            <a:r>
              <a:rPr lang="en-US" sz="1600">
                <a:solidFill>
                  <a:srgbClr val="808183"/>
                </a:solidFill>
              </a:rPr>
              <a:t>BSidesCache 2025 - Keynote, Mike Spicer, The AI Cyber War</a:t>
            </a:r>
            <a:endParaRPr sz="1600">
              <a:solidFill>
                <a:srgbClr val="808183"/>
              </a:solidFill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○"/>
            </a:pPr>
            <a:r>
              <a:rPr lang="en-US" sz="1600" u="sng">
                <a:solidFill>
                  <a:schemeClr val="hlink"/>
                </a:solidFill>
                <a:hlinkClick r:id="rId4"/>
              </a:rPr>
              <a:t>https://youtu.be/L50iyseClxk?si=ApIit5oTOft9hq2F</a:t>
            </a:r>
            <a:endParaRPr sz="1600">
              <a:solidFill>
                <a:srgbClr val="808183"/>
              </a:solidFill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●"/>
            </a:pPr>
            <a:r>
              <a:rPr lang="en-US" sz="1600">
                <a:solidFill>
                  <a:srgbClr val="808183"/>
                </a:solidFill>
              </a:rPr>
              <a:t>3/7/25 Seeking in the Deep: Unleash Cyber AI Super Powers – Mike Spicer | Après-Cyber Slopes 2025</a:t>
            </a:r>
            <a:endParaRPr sz="1600">
              <a:solidFill>
                <a:srgbClr val="808183"/>
              </a:solidFill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183"/>
              </a:buClr>
              <a:buSzPts val="1600"/>
              <a:buChar char="○"/>
            </a:pPr>
            <a:r>
              <a:rPr lang="en-US" sz="1600" u="sng">
                <a:solidFill>
                  <a:schemeClr val="hlink"/>
                </a:solidFill>
                <a:hlinkClick r:id="rId5"/>
              </a:rPr>
              <a:t>https://youtu.be/gPMLxahTMA4?si=W2KeQzvxAQGPET_C</a:t>
            </a:r>
            <a:r>
              <a:rPr lang="en-US" sz="1600">
                <a:solidFill>
                  <a:srgbClr val="808183"/>
                </a:solidFill>
              </a:rPr>
              <a:t> </a:t>
            </a:r>
            <a:endParaRPr sz="1600">
              <a:solidFill>
                <a:srgbClr val="808183"/>
              </a:solidFill>
            </a:endParaRPr>
          </a:p>
        </p:txBody>
      </p:sp>
      <p:sp>
        <p:nvSpPr>
          <p:cNvPr id="379" name="Google Shape;379;g36fd8001d8e_0_1"/>
          <p:cNvSpPr txBox="1"/>
          <p:nvPr/>
        </p:nvSpPr>
        <p:spPr>
          <a:xfrm>
            <a:off x="6836075" y="-8429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A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4"/>
          <p:cNvSpPr/>
          <p:nvPr/>
        </p:nvSpPr>
        <p:spPr>
          <a:xfrm>
            <a:off x="2818352" y="2324100"/>
            <a:ext cx="3507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84B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46484B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2025-11-02T03:04:10Z</dcterms:created>
  <dc:creator>Hackers Challenge CTF</dc:creator>
</cp:coreProperties>
</file>